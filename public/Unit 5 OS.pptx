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6" r:id="rId30"/>
    <p:sldId id="284" r:id="rId31"/>
    <p:sldId id="285" r:id="rId32"/>
    <p:sldId id="287" r:id="rId33"/>
    <p:sldId id="288" r:id="rId34"/>
    <p:sldId id="289" r:id="rId35"/>
    <p:sldId id="290" r:id="rId36"/>
    <p:sldId id="291" r:id="rId37"/>
    <p:sldId id="292" r:id="rId38"/>
    <p:sldId id="294" r:id="rId39"/>
    <p:sldId id="296" r:id="rId40"/>
    <p:sldId id="297" r:id="rId41"/>
    <p:sldId id="298" r:id="rId42"/>
    <p:sldId id="319"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98"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CB0953-137A-4623-9E52-8A0A44BA66F3}" type="datetimeFigureOut">
              <a:rPr lang="en-IN" smtClean="0"/>
              <a:t>19-07-2021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93C73EF-36EF-479B-BEAD-139B20BB0F41}" type="slidenum">
              <a:rPr lang="en-IN" smtClean="0"/>
              <a:t>‹#›</a:t>
            </a:fld>
            <a:endParaRPr lang="en-IN"/>
          </a:p>
        </p:txBody>
      </p:sp>
    </p:spTree>
    <p:extLst>
      <p:ext uri="{BB962C8B-B14F-4D97-AF65-F5344CB8AC3E}">
        <p14:creationId xmlns:p14="http://schemas.microsoft.com/office/powerpoint/2010/main" val="25408244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93C73EF-36EF-479B-BEAD-139B20BB0F41}" type="slidenum">
              <a:rPr lang="en-IN" smtClean="0"/>
              <a:t>23</a:t>
            </a:fld>
            <a:endParaRPr lang="en-IN"/>
          </a:p>
        </p:txBody>
      </p:sp>
    </p:spTree>
    <p:extLst>
      <p:ext uri="{BB962C8B-B14F-4D97-AF65-F5344CB8AC3E}">
        <p14:creationId xmlns:p14="http://schemas.microsoft.com/office/powerpoint/2010/main" val="2903867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682B0BE-1C9A-4EAD-AB75-BEF1235679B7}" type="datetimeFigureOut">
              <a:rPr lang="en-IN" smtClean="0"/>
              <a:t>19-07-2021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1096252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82B0BE-1C9A-4EAD-AB75-BEF1235679B7}" type="datetimeFigureOut">
              <a:rPr lang="en-IN" smtClean="0"/>
              <a:t>19-07-2021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2435036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82B0BE-1C9A-4EAD-AB75-BEF1235679B7}" type="datetimeFigureOut">
              <a:rPr lang="en-IN" smtClean="0"/>
              <a:t>19-07-2021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1214189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682B0BE-1C9A-4EAD-AB75-BEF1235679B7}" type="datetimeFigureOut">
              <a:rPr lang="en-IN" smtClean="0"/>
              <a:t>19-07-2021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150395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682B0BE-1C9A-4EAD-AB75-BEF1235679B7}" type="datetimeFigureOut">
              <a:rPr lang="en-IN" smtClean="0"/>
              <a:t>19-07-2021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4244521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682B0BE-1C9A-4EAD-AB75-BEF1235679B7}" type="datetimeFigureOut">
              <a:rPr lang="en-IN" smtClean="0"/>
              <a:t>19-07-2021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1329045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82B0BE-1C9A-4EAD-AB75-BEF1235679B7}" type="datetimeFigureOut">
              <a:rPr lang="en-IN" smtClean="0"/>
              <a:t>19-07-2021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3764475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82B0BE-1C9A-4EAD-AB75-BEF1235679B7}" type="datetimeFigureOut">
              <a:rPr lang="en-IN" smtClean="0"/>
              <a:t>19-07-2021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3343310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82B0BE-1C9A-4EAD-AB75-BEF1235679B7}" type="datetimeFigureOut">
              <a:rPr lang="en-IN" smtClean="0"/>
              <a:t>19-07-2021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3216908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82B0BE-1C9A-4EAD-AB75-BEF1235679B7}" type="datetimeFigureOut">
              <a:rPr lang="en-IN" smtClean="0"/>
              <a:t>19-07-2021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1989594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682B0BE-1C9A-4EAD-AB75-BEF1235679B7}" type="datetimeFigureOut">
              <a:rPr lang="en-IN" smtClean="0"/>
              <a:t>19-07-2021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0E0E35-89DD-48E0-8552-D9DB09D61544}" type="slidenum">
              <a:rPr lang="en-IN" smtClean="0"/>
              <a:t>‹#›</a:t>
            </a:fld>
            <a:endParaRPr lang="en-IN"/>
          </a:p>
        </p:txBody>
      </p:sp>
    </p:spTree>
    <p:extLst>
      <p:ext uri="{BB962C8B-B14F-4D97-AF65-F5344CB8AC3E}">
        <p14:creationId xmlns:p14="http://schemas.microsoft.com/office/powerpoint/2010/main" val="882984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82B0BE-1C9A-4EAD-AB75-BEF1235679B7}" type="datetimeFigureOut">
              <a:rPr lang="en-IN" smtClean="0"/>
              <a:t>19-07-2021</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0E0E35-89DD-48E0-8552-D9DB09D61544}" type="slidenum">
              <a:rPr lang="en-IN" smtClean="0"/>
              <a:t>‹#›</a:t>
            </a:fld>
            <a:endParaRPr lang="en-IN"/>
          </a:p>
        </p:txBody>
      </p:sp>
    </p:spTree>
    <p:extLst>
      <p:ext uri="{BB962C8B-B14F-4D97-AF65-F5344CB8AC3E}">
        <p14:creationId xmlns:p14="http://schemas.microsoft.com/office/powerpoint/2010/main" val="2448745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Unit 5 </a:t>
            </a:r>
            <a:endParaRPr lang="en-IN" dirty="0"/>
          </a:p>
        </p:txBody>
      </p:sp>
      <p:sp>
        <p:nvSpPr>
          <p:cNvPr id="3" name="Subtitle 2"/>
          <p:cNvSpPr>
            <a:spLocks noGrp="1"/>
          </p:cNvSpPr>
          <p:nvPr>
            <p:ph type="subTitle" idx="1"/>
          </p:nvPr>
        </p:nvSpPr>
        <p:spPr/>
        <p:txBody>
          <a:bodyPr/>
          <a:lstStyle/>
          <a:p>
            <a:r>
              <a:rPr lang="en-IN" dirty="0" smtClean="0"/>
              <a:t>Operating system </a:t>
            </a:r>
            <a:endParaRPr lang="en-IN" dirty="0"/>
          </a:p>
        </p:txBody>
      </p:sp>
    </p:spTree>
    <p:extLst>
      <p:ext uri="{BB962C8B-B14F-4D97-AF65-F5344CB8AC3E}">
        <p14:creationId xmlns:p14="http://schemas.microsoft.com/office/powerpoint/2010/main" val="86197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3009" t="23128" r="39579" b="22962"/>
          <a:stretch/>
        </p:blipFill>
        <p:spPr bwMode="auto">
          <a:xfrm>
            <a:off x="251521" y="188640"/>
            <a:ext cx="8640960"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875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557" t="23458" r="37794" b="22054"/>
          <a:stretch/>
        </p:blipFill>
        <p:spPr bwMode="auto">
          <a:xfrm>
            <a:off x="323528" y="0"/>
            <a:ext cx="8640960" cy="6381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Oval 3"/>
          <p:cNvSpPr/>
          <p:nvPr/>
        </p:nvSpPr>
        <p:spPr>
          <a:xfrm>
            <a:off x="8604448" y="583300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251520" y="6049028"/>
            <a:ext cx="576064"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98614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624" t="22500" r="40838" b="21788"/>
          <a:stretch/>
        </p:blipFill>
        <p:spPr bwMode="auto">
          <a:xfrm>
            <a:off x="323528" y="116632"/>
            <a:ext cx="8820471" cy="6624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793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760" t="22805" r="38937" b="24544"/>
          <a:stretch/>
        </p:blipFill>
        <p:spPr bwMode="auto">
          <a:xfrm>
            <a:off x="179512" y="116632"/>
            <a:ext cx="8856984"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2909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624" t="20663" r="39628" b="23319"/>
          <a:stretch/>
        </p:blipFill>
        <p:spPr bwMode="auto">
          <a:xfrm>
            <a:off x="395536" y="260648"/>
            <a:ext cx="8496943"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8134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731" t="22234" r="39868" b="28788"/>
          <a:stretch/>
        </p:blipFill>
        <p:spPr bwMode="auto">
          <a:xfrm>
            <a:off x="179512" y="188640"/>
            <a:ext cx="8712968"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9014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105" t="22193" r="39801" b="29135"/>
          <a:stretch/>
        </p:blipFill>
        <p:spPr bwMode="auto">
          <a:xfrm>
            <a:off x="323528" y="116632"/>
            <a:ext cx="8820472"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5860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279" t="22500" r="40147" b="27910"/>
          <a:stretch/>
        </p:blipFill>
        <p:spPr bwMode="auto">
          <a:xfrm>
            <a:off x="179513" y="188640"/>
            <a:ext cx="8897358"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05440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21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213" t="24071" r="39867" b="29400"/>
          <a:stretch/>
        </p:blipFill>
        <p:spPr bwMode="auto">
          <a:xfrm>
            <a:off x="0" y="0"/>
            <a:ext cx="8934063" cy="645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5614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9723" t="22500" r="40147" b="29135"/>
          <a:stretch/>
        </p:blipFill>
        <p:spPr bwMode="auto">
          <a:xfrm>
            <a:off x="467544" y="188640"/>
            <a:ext cx="8458662"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573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126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142" t="24949" r="40148" b="28521"/>
          <a:stretch/>
        </p:blipFill>
        <p:spPr bwMode="auto">
          <a:xfrm>
            <a:off x="193254" y="0"/>
            <a:ext cx="8411194" cy="638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4053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229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211" t="24131" r="39695" b="29952"/>
          <a:stretch/>
        </p:blipFill>
        <p:spPr bwMode="auto">
          <a:xfrm>
            <a:off x="323528" y="0"/>
            <a:ext cx="8640960" cy="623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070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331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488" t="24336" r="39456" b="25461"/>
          <a:stretch/>
        </p:blipFill>
        <p:spPr bwMode="auto">
          <a:xfrm>
            <a:off x="323528" y="188640"/>
            <a:ext cx="8568952"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739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433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624" t="22500" r="37381" b="31890"/>
          <a:stretch/>
        </p:blipFill>
        <p:spPr bwMode="auto">
          <a:xfrm>
            <a:off x="249631" y="188640"/>
            <a:ext cx="8786865"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739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536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452" t="22500" r="37208" b="27298"/>
          <a:stretch/>
        </p:blipFill>
        <p:spPr bwMode="auto">
          <a:xfrm>
            <a:off x="107504" y="116632"/>
            <a:ext cx="8784976"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739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3181" t="25561" r="40146" b="23012"/>
          <a:stretch/>
        </p:blipFill>
        <p:spPr bwMode="auto">
          <a:xfrm>
            <a:off x="179513" y="0"/>
            <a:ext cx="8856984" cy="6857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2739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146" t="22733" r="45775" b="21344"/>
          <a:stretch/>
        </p:blipFill>
        <p:spPr bwMode="auto">
          <a:xfrm>
            <a:off x="179512" y="188640"/>
            <a:ext cx="8784975"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83568" y="6453336"/>
            <a:ext cx="792088"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15691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646" t="23404" r="39679" b="26841"/>
          <a:stretch/>
        </p:blipFill>
        <p:spPr bwMode="auto">
          <a:xfrm>
            <a:off x="179512" y="0"/>
            <a:ext cx="8784975" cy="659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5578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068" t="18214" r="38937" b="33114"/>
          <a:stretch/>
        </p:blipFill>
        <p:spPr bwMode="auto">
          <a:xfrm>
            <a:off x="1" y="-1"/>
            <a:ext cx="8964488" cy="659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19016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451" t="21887" r="39456" b="27298"/>
          <a:stretch/>
        </p:blipFill>
        <p:spPr bwMode="auto">
          <a:xfrm>
            <a:off x="-40202" y="116632"/>
            <a:ext cx="9004689"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00883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797" t="22194" r="39456" b="32808"/>
          <a:stretch/>
        </p:blipFill>
        <p:spPr bwMode="auto">
          <a:xfrm>
            <a:off x="251520" y="332656"/>
            <a:ext cx="8640959" cy="5904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61723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6" name="Picture 2"/>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1797" t="25255" r="37035" b="30053"/>
          <a:stretch/>
        </p:blipFill>
        <p:spPr bwMode="auto">
          <a:xfrm>
            <a:off x="0" y="116632"/>
            <a:ext cx="9252519"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76041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106" t="20969" r="49136" b="34339"/>
          <a:stretch/>
        </p:blipFill>
        <p:spPr bwMode="auto">
          <a:xfrm>
            <a:off x="0" y="0"/>
            <a:ext cx="9144000"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79006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142" t="24030" r="40838" b="25156"/>
          <a:stretch/>
        </p:blipFill>
        <p:spPr bwMode="auto">
          <a:xfrm>
            <a:off x="107504" y="0"/>
            <a:ext cx="8712968" cy="659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98426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451" t="21888" r="40320" b="33726"/>
          <a:stretch/>
        </p:blipFill>
        <p:spPr bwMode="auto">
          <a:xfrm>
            <a:off x="179512" y="188640"/>
            <a:ext cx="8712968"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12390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12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624" t="20663" r="38764" b="25462"/>
          <a:stretch/>
        </p:blipFill>
        <p:spPr bwMode="auto">
          <a:xfrm>
            <a:off x="179512" y="116632"/>
            <a:ext cx="8712967"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299207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14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451" t="22193" r="40320" b="29135"/>
          <a:stretch/>
        </p:blipFill>
        <p:spPr bwMode="auto">
          <a:xfrm>
            <a:off x="251520" y="188640"/>
            <a:ext cx="8496944"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29920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105" t="22500" r="39456" b="26686"/>
          <a:stretch/>
        </p:blipFill>
        <p:spPr bwMode="auto">
          <a:xfrm>
            <a:off x="323528" y="260648"/>
            <a:ext cx="8568952"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016813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819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068" t="23417" r="39456" b="29440"/>
          <a:stretch/>
        </p:blipFill>
        <p:spPr bwMode="auto">
          <a:xfrm>
            <a:off x="251520" y="0"/>
            <a:ext cx="8712967" cy="6525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29920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134" t="17063" r="25826" b="14285"/>
          <a:stretch/>
        </p:blipFill>
        <p:spPr bwMode="auto">
          <a:xfrm>
            <a:off x="467544" y="188640"/>
            <a:ext cx="8568952"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29920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414" t="23111" r="39802" b="32196"/>
          <a:stretch/>
        </p:blipFill>
        <p:spPr bwMode="auto">
          <a:xfrm>
            <a:off x="107504" y="116632"/>
            <a:ext cx="8712968"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136577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126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760" t="22805" r="38591" b="26686"/>
          <a:stretch/>
        </p:blipFill>
        <p:spPr bwMode="auto">
          <a:xfrm>
            <a:off x="323528" y="260648"/>
            <a:ext cx="8568952"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328072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229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0760" t="22805" r="39456" b="30666"/>
          <a:stretch/>
        </p:blipFill>
        <p:spPr bwMode="auto">
          <a:xfrm>
            <a:off x="179512" y="188640"/>
            <a:ext cx="8964488"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990926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695" t="30357" r="27395" b="7936"/>
          <a:stretch/>
        </p:blipFill>
        <p:spPr bwMode="auto">
          <a:xfrm>
            <a:off x="323528" y="188640"/>
            <a:ext cx="8568952" cy="6552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31228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433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302" t="22806" r="40147" b="26073"/>
          <a:stretch/>
        </p:blipFill>
        <p:spPr bwMode="auto">
          <a:xfrm>
            <a:off x="179512" y="332656"/>
            <a:ext cx="8568952"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98136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536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131" t="23417" r="39282" b="26380"/>
          <a:stretch/>
        </p:blipFill>
        <p:spPr bwMode="auto">
          <a:xfrm>
            <a:off x="179512" y="116632"/>
            <a:ext cx="8712968"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32597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741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8513" t="21581" r="38418" b="25462"/>
          <a:stretch/>
        </p:blipFill>
        <p:spPr bwMode="auto">
          <a:xfrm>
            <a:off x="251520" y="116632"/>
            <a:ext cx="8496944"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57262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945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957" t="25255" r="40492" b="26380"/>
          <a:stretch/>
        </p:blipFill>
        <p:spPr bwMode="auto">
          <a:xfrm>
            <a:off x="-12964" y="116632"/>
            <a:ext cx="8905444" cy="6624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76716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48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1452" t="24030" r="39801" b="32502"/>
          <a:stretch/>
        </p:blipFill>
        <p:spPr bwMode="auto">
          <a:xfrm>
            <a:off x="323528" y="116632"/>
            <a:ext cx="8712968" cy="6264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124867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150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227" t="21581" r="38938" b="24850"/>
          <a:stretch/>
        </p:blipFill>
        <p:spPr bwMode="auto">
          <a:xfrm>
            <a:off x="0" y="260648"/>
            <a:ext cx="8964488"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57317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RAID 1 </a:t>
            </a:r>
            <a:endParaRPr lang="en-IN"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27584" y="1484784"/>
            <a:ext cx="7560840" cy="44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00931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253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957" t="23111" r="37727" b="25156"/>
          <a:stretch/>
        </p:blipFill>
        <p:spPr bwMode="auto">
          <a:xfrm>
            <a:off x="251520" y="188640"/>
            <a:ext cx="8892480" cy="5832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327925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355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093" t="23111" r="37554" b="24849"/>
          <a:stretch/>
        </p:blipFill>
        <p:spPr bwMode="auto">
          <a:xfrm>
            <a:off x="31512" y="0"/>
            <a:ext cx="8860967" cy="6525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660240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457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6957" t="22805" r="38072" b="23625"/>
          <a:stretch/>
        </p:blipFill>
        <p:spPr bwMode="auto">
          <a:xfrm>
            <a:off x="0" y="260648"/>
            <a:ext cx="8676456"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735404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5602"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994" t="22806" r="38245" b="26073"/>
          <a:stretch/>
        </p:blipFill>
        <p:spPr bwMode="auto">
          <a:xfrm>
            <a:off x="179512" y="0"/>
            <a:ext cx="8964488" cy="659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921921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66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5920" t="22805" r="40146" b="25462"/>
          <a:stretch/>
        </p:blipFill>
        <p:spPr bwMode="auto">
          <a:xfrm>
            <a:off x="107504" y="188640"/>
            <a:ext cx="8856984"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29187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7650"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8685" t="24030" r="39456" b="30053"/>
          <a:stretch/>
        </p:blipFill>
        <p:spPr bwMode="auto">
          <a:xfrm>
            <a:off x="179512" y="34458"/>
            <a:ext cx="8712968" cy="6706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88474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8674"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036" t="22044" r="39744" b="20585"/>
          <a:stretch/>
        </p:blipFill>
        <p:spPr bwMode="auto">
          <a:xfrm>
            <a:off x="251520" y="188640"/>
            <a:ext cx="8496944" cy="6192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11560" y="5949280"/>
            <a:ext cx="864096"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2735761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What is a File ?</a:t>
            </a:r>
            <a:br>
              <a:rPr lang="en-IN" dirty="0"/>
            </a:br>
            <a:endParaRPr lang="en-IN" dirty="0"/>
          </a:p>
        </p:txBody>
      </p:sp>
      <p:sp>
        <p:nvSpPr>
          <p:cNvPr id="3" name="Content Placeholder 2"/>
          <p:cNvSpPr>
            <a:spLocks noGrp="1"/>
          </p:cNvSpPr>
          <p:nvPr>
            <p:ph idx="1"/>
          </p:nvPr>
        </p:nvSpPr>
        <p:spPr>
          <a:xfrm>
            <a:off x="457200" y="1600201"/>
            <a:ext cx="8229600" cy="2404864"/>
          </a:xfrm>
        </p:spPr>
        <p:txBody>
          <a:bodyPr>
            <a:normAutofit fontScale="70000" lnSpcReduction="20000"/>
          </a:bodyPr>
          <a:lstStyle/>
          <a:p>
            <a:r>
              <a:rPr lang="en-IN" dirty="0" smtClean="0"/>
              <a:t>A </a:t>
            </a:r>
            <a:r>
              <a:rPr lang="en-IN" dirty="0"/>
              <a:t>file can be defined as a data structure which stores the sequence of records. Files are stored in a file system, which may exist on a disk or in the main memory. Files can be simple (plain text) or complex (specially-formatted).</a:t>
            </a:r>
          </a:p>
          <a:p>
            <a:endParaRPr lang="en-IN" dirty="0"/>
          </a:p>
          <a:p>
            <a:r>
              <a:rPr lang="en-IN" dirty="0"/>
              <a:t>The collection of files is known as Directory. The collection of directories at the different levels, is known as File System.</a:t>
            </a:r>
          </a:p>
          <a:p>
            <a:endParaRPr lang="en-IN" dirty="0"/>
          </a:p>
          <a:p>
            <a:endParaRPr lang="en-IN" dirty="0"/>
          </a:p>
          <a:p>
            <a:pPr marL="0" indent="0">
              <a:buNone/>
            </a:pP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880" y="3789040"/>
            <a:ext cx="676275" cy="2876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589486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fontScale="90000"/>
          </a:bodyPr>
          <a:lstStyle/>
          <a:p>
            <a:r>
              <a:rPr lang="en-IN" dirty="0"/>
              <a:t>Attributes of the File</a:t>
            </a:r>
            <a:br>
              <a:rPr lang="en-IN" dirty="0"/>
            </a:br>
            <a:endParaRPr lang="en-IN" dirty="0"/>
          </a:p>
        </p:txBody>
      </p:sp>
      <p:sp>
        <p:nvSpPr>
          <p:cNvPr id="3" name="Content Placeholder 2"/>
          <p:cNvSpPr>
            <a:spLocks noGrp="1"/>
          </p:cNvSpPr>
          <p:nvPr>
            <p:ph idx="1"/>
          </p:nvPr>
        </p:nvSpPr>
        <p:spPr>
          <a:xfrm>
            <a:off x="539552" y="548680"/>
            <a:ext cx="8229600" cy="4525963"/>
          </a:xfrm>
        </p:spPr>
        <p:txBody>
          <a:bodyPr>
            <a:noAutofit/>
          </a:bodyPr>
          <a:lstStyle/>
          <a:p>
            <a:pPr marL="0" indent="0">
              <a:buNone/>
            </a:pPr>
            <a:r>
              <a:rPr lang="en-IN" sz="1050" b="1" dirty="0"/>
              <a:t>1.Name</a:t>
            </a:r>
          </a:p>
          <a:p>
            <a:pPr marL="0" indent="0">
              <a:buNone/>
            </a:pPr>
            <a:endParaRPr lang="en-IN" sz="1050" b="1" dirty="0"/>
          </a:p>
          <a:p>
            <a:pPr marL="0" indent="0">
              <a:buNone/>
            </a:pPr>
            <a:r>
              <a:rPr lang="en-IN" sz="1050" b="1" dirty="0"/>
              <a:t>Every file carries a name by which the file is recognized in the file system. One directory cannot have two files with the same name.</a:t>
            </a:r>
          </a:p>
          <a:p>
            <a:pPr marL="0" indent="0">
              <a:buNone/>
            </a:pPr>
            <a:endParaRPr lang="en-IN" sz="1050" b="1" dirty="0"/>
          </a:p>
          <a:p>
            <a:pPr marL="0" indent="0">
              <a:buNone/>
            </a:pPr>
            <a:endParaRPr lang="en-IN" sz="1050" b="1" dirty="0"/>
          </a:p>
          <a:p>
            <a:pPr marL="0" indent="0">
              <a:buNone/>
            </a:pPr>
            <a:endParaRPr lang="en-IN" sz="1050" b="1" dirty="0"/>
          </a:p>
          <a:p>
            <a:pPr marL="0" indent="0">
              <a:buNone/>
            </a:pPr>
            <a:r>
              <a:rPr lang="en-IN" sz="1050" b="1" dirty="0"/>
              <a:t>2.Identifier</a:t>
            </a:r>
          </a:p>
          <a:p>
            <a:pPr marL="0" indent="0">
              <a:buNone/>
            </a:pPr>
            <a:endParaRPr lang="en-IN" sz="1050" b="1" dirty="0"/>
          </a:p>
          <a:p>
            <a:pPr marL="0" indent="0">
              <a:buNone/>
            </a:pPr>
            <a:r>
              <a:rPr lang="en-IN" sz="1050" b="1" dirty="0"/>
              <a:t>Along with the name, Each File has its own extension which identifies the type of the file. For example, a text file has the extension .txt, A video file can have the extension .mp4.</a:t>
            </a:r>
          </a:p>
          <a:p>
            <a:pPr marL="0" indent="0">
              <a:buNone/>
            </a:pPr>
            <a:endParaRPr lang="en-IN" sz="1050" b="1" dirty="0"/>
          </a:p>
          <a:p>
            <a:pPr marL="0" indent="0">
              <a:buNone/>
            </a:pPr>
            <a:r>
              <a:rPr lang="en-IN" sz="1050" b="1" dirty="0"/>
              <a:t>3.Type</a:t>
            </a:r>
          </a:p>
          <a:p>
            <a:pPr marL="0" indent="0">
              <a:buNone/>
            </a:pPr>
            <a:endParaRPr lang="en-IN" sz="1050" b="1" dirty="0"/>
          </a:p>
          <a:p>
            <a:pPr marL="0" indent="0">
              <a:buNone/>
            </a:pPr>
            <a:r>
              <a:rPr lang="en-IN" sz="1050" b="1" dirty="0"/>
              <a:t>In a File System, the Files are classified in different types such as video files, audio files, text files, executable files, etc.</a:t>
            </a:r>
          </a:p>
          <a:p>
            <a:pPr marL="0" indent="0">
              <a:buNone/>
            </a:pPr>
            <a:endParaRPr lang="en-IN" sz="1050" b="1" dirty="0"/>
          </a:p>
          <a:p>
            <a:pPr marL="0" indent="0">
              <a:buNone/>
            </a:pPr>
            <a:r>
              <a:rPr lang="en-IN" sz="1050" b="1" dirty="0"/>
              <a:t>4.Location</a:t>
            </a:r>
          </a:p>
          <a:p>
            <a:pPr marL="0" indent="0">
              <a:buNone/>
            </a:pPr>
            <a:endParaRPr lang="en-IN" sz="1050" b="1" dirty="0"/>
          </a:p>
          <a:p>
            <a:pPr marL="0" indent="0">
              <a:buNone/>
            </a:pPr>
            <a:r>
              <a:rPr lang="en-IN" sz="1050" b="1" dirty="0"/>
              <a:t>In the File System, there are several locations on which, the files can be stored. Each file carries its location as its attribute.</a:t>
            </a:r>
          </a:p>
          <a:p>
            <a:pPr marL="0" indent="0">
              <a:buNone/>
            </a:pPr>
            <a:endParaRPr lang="en-IN" sz="1050" b="1" dirty="0"/>
          </a:p>
          <a:p>
            <a:pPr marL="0" indent="0">
              <a:buNone/>
            </a:pPr>
            <a:r>
              <a:rPr lang="en-IN" sz="1050" b="1" dirty="0"/>
              <a:t>5.Size</a:t>
            </a:r>
          </a:p>
          <a:p>
            <a:pPr marL="0" indent="0">
              <a:buNone/>
            </a:pPr>
            <a:endParaRPr lang="en-IN" sz="1050" b="1" dirty="0"/>
          </a:p>
          <a:p>
            <a:pPr marL="0" indent="0">
              <a:buNone/>
            </a:pPr>
            <a:r>
              <a:rPr lang="en-IN" sz="1050" b="1" dirty="0"/>
              <a:t>The Size of the File is one of its most important attribute. By size of the file, we mean the number of bytes acquired by the file in the memory.</a:t>
            </a:r>
          </a:p>
          <a:p>
            <a:pPr marL="0" indent="0">
              <a:buNone/>
            </a:pPr>
            <a:endParaRPr lang="en-IN" sz="1050" b="1" dirty="0"/>
          </a:p>
          <a:p>
            <a:pPr marL="0" indent="0">
              <a:buNone/>
            </a:pPr>
            <a:endParaRPr lang="en-IN" sz="1050" b="1" dirty="0"/>
          </a:p>
          <a:p>
            <a:pPr marL="0" indent="0">
              <a:buNone/>
            </a:pPr>
            <a:r>
              <a:rPr lang="en-IN" sz="1050" b="1" dirty="0"/>
              <a:t>6.Protection</a:t>
            </a:r>
          </a:p>
          <a:p>
            <a:pPr marL="0" indent="0">
              <a:buNone/>
            </a:pPr>
            <a:endParaRPr lang="en-IN" sz="1050" b="1" dirty="0"/>
          </a:p>
          <a:p>
            <a:pPr marL="0" indent="0">
              <a:buNone/>
            </a:pPr>
            <a:r>
              <a:rPr lang="en-IN" sz="1050" b="1" dirty="0"/>
              <a:t>The Admin of the computer may want the different protections for the different files. Therefore each file carries its own set of permissions to the different group of Users.</a:t>
            </a:r>
          </a:p>
          <a:p>
            <a:pPr marL="0" indent="0">
              <a:buNone/>
            </a:pPr>
            <a:endParaRPr lang="en-IN" sz="1050" b="1" dirty="0"/>
          </a:p>
          <a:p>
            <a:pPr marL="0" indent="0">
              <a:buNone/>
            </a:pPr>
            <a:r>
              <a:rPr lang="en-IN" sz="1050" b="1" dirty="0"/>
              <a:t>7.Time and Date</a:t>
            </a:r>
          </a:p>
          <a:p>
            <a:pPr marL="0" indent="0">
              <a:buNone/>
            </a:pPr>
            <a:endParaRPr lang="en-IN" sz="1050" b="1" dirty="0"/>
          </a:p>
          <a:p>
            <a:pPr marL="0" indent="0">
              <a:buNone/>
            </a:pPr>
            <a:r>
              <a:rPr lang="en-IN" sz="1050" b="1" dirty="0"/>
              <a:t>Every file carries a time stamp which contains the time and date on which the file is last modified.</a:t>
            </a:r>
          </a:p>
          <a:p>
            <a:pPr marL="0" indent="0">
              <a:buNone/>
            </a:pPr>
            <a:endParaRPr lang="en-IN" sz="1050" b="1" dirty="0"/>
          </a:p>
          <a:p>
            <a:pPr marL="0" indent="0">
              <a:buNone/>
            </a:pPr>
            <a:endParaRPr lang="en-IN" sz="1050" b="1" dirty="0"/>
          </a:p>
        </p:txBody>
      </p:sp>
    </p:spTree>
    <p:extLst>
      <p:ext uri="{BB962C8B-B14F-4D97-AF65-F5344CB8AC3E}">
        <p14:creationId xmlns:p14="http://schemas.microsoft.com/office/powerpoint/2010/main" val="76952092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Operations on the File</a:t>
            </a:r>
          </a:p>
        </p:txBody>
      </p:sp>
      <p:sp>
        <p:nvSpPr>
          <p:cNvPr id="3" name="Content Placeholder 2"/>
          <p:cNvSpPr>
            <a:spLocks noGrp="1"/>
          </p:cNvSpPr>
          <p:nvPr>
            <p:ph idx="1"/>
          </p:nvPr>
        </p:nvSpPr>
        <p:spPr/>
        <p:txBody>
          <a:bodyPr>
            <a:normAutofit fontScale="85000" lnSpcReduction="10000"/>
          </a:bodyPr>
          <a:lstStyle/>
          <a:p>
            <a:pPr marL="0" indent="0">
              <a:buNone/>
            </a:pPr>
            <a:r>
              <a:rPr lang="en-IN" dirty="0"/>
              <a:t>There are various operations which can be implemented on a file. We will see all of them in detail.</a:t>
            </a:r>
          </a:p>
          <a:p>
            <a:pPr marL="0" indent="0">
              <a:buNone/>
            </a:pPr>
            <a:endParaRPr lang="en-IN" dirty="0"/>
          </a:p>
          <a:p>
            <a:pPr marL="0" indent="0">
              <a:buNone/>
            </a:pPr>
            <a:r>
              <a:rPr lang="en-IN" dirty="0"/>
              <a:t>1.Create</a:t>
            </a:r>
          </a:p>
          <a:p>
            <a:pPr marL="0" indent="0">
              <a:buNone/>
            </a:pPr>
            <a:endParaRPr lang="en-IN" dirty="0"/>
          </a:p>
          <a:p>
            <a:pPr marL="0" indent="0">
              <a:buNone/>
            </a:pPr>
            <a:r>
              <a:rPr lang="en-IN" dirty="0"/>
              <a:t>Creation of the file is the most important operation on the file. Different types of files are created by different methods for example text editors are used to create a text file, word processors are used to create a word file and Image editors are used to create the image files.</a:t>
            </a:r>
          </a:p>
        </p:txBody>
      </p:sp>
    </p:spTree>
    <p:extLst>
      <p:ext uri="{BB962C8B-B14F-4D97-AF65-F5344CB8AC3E}">
        <p14:creationId xmlns:p14="http://schemas.microsoft.com/office/powerpoint/2010/main" val="16707799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669360"/>
          </a:xfrm>
        </p:spPr>
        <p:txBody>
          <a:bodyPr>
            <a:normAutofit fontScale="47500" lnSpcReduction="20000"/>
          </a:bodyPr>
          <a:lstStyle/>
          <a:p>
            <a:pPr marL="0" indent="0">
              <a:buNone/>
            </a:pPr>
            <a:r>
              <a:rPr lang="en-IN" dirty="0"/>
              <a:t>2.Write</a:t>
            </a:r>
          </a:p>
          <a:p>
            <a:pPr marL="0" indent="0">
              <a:buNone/>
            </a:pPr>
            <a:endParaRPr lang="en-IN" dirty="0"/>
          </a:p>
          <a:p>
            <a:pPr marL="0" indent="0">
              <a:buNone/>
            </a:pPr>
            <a:endParaRPr lang="en-IN" dirty="0"/>
          </a:p>
          <a:p>
            <a:pPr marL="0" indent="0">
              <a:buNone/>
            </a:pPr>
            <a:r>
              <a:rPr lang="en-IN" dirty="0"/>
              <a:t>Writing the file is different from creating the file. The OS maintains a write pointer for every file which points to the position in the file from which, the data needs to be written.</a:t>
            </a:r>
          </a:p>
          <a:p>
            <a:pPr marL="0" indent="0">
              <a:buNone/>
            </a:pPr>
            <a:endParaRPr lang="en-IN" dirty="0"/>
          </a:p>
          <a:p>
            <a:pPr marL="0" indent="0">
              <a:buNone/>
            </a:pPr>
            <a:r>
              <a:rPr lang="en-IN" dirty="0"/>
              <a:t>3.Read</a:t>
            </a:r>
          </a:p>
          <a:p>
            <a:pPr marL="0" indent="0">
              <a:buNone/>
            </a:pPr>
            <a:endParaRPr lang="en-IN" dirty="0"/>
          </a:p>
          <a:p>
            <a:pPr marL="0" indent="0">
              <a:buNone/>
            </a:pPr>
            <a:r>
              <a:rPr lang="en-IN" dirty="0"/>
              <a:t>Every file is opened in three different modes : Read, Write and append. A Read pointer is maintained by the OS, pointing to the position up to which, the data has been read.</a:t>
            </a:r>
          </a:p>
          <a:p>
            <a:pPr marL="0" indent="0">
              <a:buNone/>
            </a:pPr>
            <a:endParaRPr lang="en-IN" dirty="0"/>
          </a:p>
          <a:p>
            <a:pPr marL="0" indent="0">
              <a:buNone/>
            </a:pPr>
            <a:r>
              <a:rPr lang="en-IN" dirty="0"/>
              <a:t>4.Re-position</a:t>
            </a:r>
          </a:p>
          <a:p>
            <a:pPr marL="0" indent="0">
              <a:buNone/>
            </a:pPr>
            <a:endParaRPr lang="en-IN" dirty="0"/>
          </a:p>
          <a:p>
            <a:pPr marL="0" indent="0">
              <a:buNone/>
            </a:pPr>
            <a:r>
              <a:rPr lang="en-IN" dirty="0"/>
              <a:t>Re-positioning is simply moving the file pointers forward or backward depending upon the user's requirement. It is also called as seeking.</a:t>
            </a:r>
          </a:p>
          <a:p>
            <a:pPr marL="0" indent="0">
              <a:buNone/>
            </a:pPr>
            <a:endParaRPr lang="en-IN" dirty="0"/>
          </a:p>
          <a:p>
            <a:pPr marL="0" indent="0">
              <a:buNone/>
            </a:pPr>
            <a:r>
              <a:rPr lang="en-IN" dirty="0"/>
              <a:t>5.Delete</a:t>
            </a:r>
          </a:p>
          <a:p>
            <a:pPr marL="0" indent="0">
              <a:buNone/>
            </a:pPr>
            <a:endParaRPr lang="en-IN" dirty="0"/>
          </a:p>
          <a:p>
            <a:pPr marL="0" indent="0">
              <a:buNone/>
            </a:pPr>
            <a:r>
              <a:rPr lang="en-IN" dirty="0"/>
              <a:t>Deleting the file will not only delete all the data stored inside the file, It also deletes all the attributes of the file. The space which is allocated to the file will now become available and can be allocated to the other files</a:t>
            </a:r>
            <a:r>
              <a:rPr lang="en-IN" dirty="0" smtClean="0"/>
              <a:t>.</a:t>
            </a:r>
          </a:p>
          <a:p>
            <a:pPr marL="0" indent="0">
              <a:buNone/>
            </a:pPr>
            <a:endParaRPr lang="en-IN" dirty="0" smtClean="0"/>
          </a:p>
          <a:p>
            <a:pPr marL="0" indent="0">
              <a:buNone/>
            </a:pPr>
            <a:r>
              <a:rPr lang="en-IN" b="1" dirty="0"/>
              <a:t>6.Truncate</a:t>
            </a:r>
            <a:endParaRPr lang="en-IN" dirty="0"/>
          </a:p>
          <a:p>
            <a:pPr marL="0" indent="0">
              <a:buNone/>
            </a:pPr>
            <a:r>
              <a:rPr lang="en-IN" dirty="0"/>
              <a:t>Truncating is simply deleting the file except deleting attributes. The file is not completely deleted although the information stored inside the file get replaced.</a:t>
            </a:r>
          </a:p>
          <a:p>
            <a:pPr marL="0" indent="0">
              <a:buNone/>
            </a:pPr>
            <a:r>
              <a:rPr lang="en-IN" dirty="0"/>
              <a:t/>
            </a:r>
            <a:br>
              <a:rPr lang="en-IN" dirty="0"/>
            </a:br>
            <a:endParaRPr lang="en-IN" dirty="0"/>
          </a:p>
        </p:txBody>
      </p:sp>
    </p:spTree>
    <p:extLst>
      <p:ext uri="{BB962C8B-B14F-4D97-AF65-F5344CB8AC3E}">
        <p14:creationId xmlns:p14="http://schemas.microsoft.com/office/powerpoint/2010/main" val="428271185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File Access Methods</a:t>
            </a:r>
            <a:br>
              <a:rPr lang="en-IN" dirty="0"/>
            </a:br>
            <a:endParaRPr lang="en-IN" dirty="0"/>
          </a:p>
        </p:txBody>
      </p:sp>
      <p:sp>
        <p:nvSpPr>
          <p:cNvPr id="3" name="Content Placeholder 2"/>
          <p:cNvSpPr>
            <a:spLocks noGrp="1"/>
          </p:cNvSpPr>
          <p:nvPr>
            <p:ph idx="1"/>
          </p:nvPr>
        </p:nvSpPr>
        <p:spPr/>
        <p:txBody>
          <a:bodyPr/>
          <a:lstStyle/>
          <a:p>
            <a:r>
              <a:rPr lang="en-IN" dirty="0"/>
              <a:t>Let's look at various ways to access files stored in secondary memory.</a:t>
            </a:r>
          </a:p>
          <a:p>
            <a:pPr marL="514350" indent="-514350">
              <a:buAutoNum type="arabicParenR"/>
            </a:pPr>
            <a:r>
              <a:rPr lang="en-IN" dirty="0" smtClean="0"/>
              <a:t>Sequential access</a:t>
            </a:r>
          </a:p>
          <a:p>
            <a:pPr marL="514350" indent="-514350">
              <a:buAutoNum type="arabicParenR"/>
            </a:pPr>
            <a:r>
              <a:rPr lang="en-IN" dirty="0" smtClean="0"/>
              <a:t>Direct access</a:t>
            </a:r>
          </a:p>
          <a:p>
            <a:pPr marL="514350" indent="-514350">
              <a:buFont typeface="Arial" pitchFamily="34" charset="0"/>
              <a:buAutoNum type="arabicParenR"/>
            </a:pPr>
            <a:r>
              <a:rPr lang="en-IN" dirty="0"/>
              <a:t>Indexed Access</a:t>
            </a:r>
          </a:p>
          <a:p>
            <a:pPr marL="0" indent="0">
              <a:buNone/>
            </a:pPr>
            <a:endParaRPr lang="en-IN" dirty="0"/>
          </a:p>
        </p:txBody>
      </p:sp>
    </p:spTree>
    <p:extLst>
      <p:ext uri="{BB962C8B-B14F-4D97-AF65-F5344CB8AC3E}">
        <p14:creationId xmlns:p14="http://schemas.microsoft.com/office/powerpoint/2010/main" val="357703399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Sequential Access</a:t>
            </a:r>
            <a:br>
              <a:rPr lang="en-IN" dirty="0"/>
            </a:br>
            <a:endParaRPr lang="en-IN" dirty="0"/>
          </a:p>
        </p:txBody>
      </p:sp>
      <p:pic>
        <p:nvPicPr>
          <p:cNvPr id="4100" name="Picture 4" descr="os File Access Metho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24744"/>
            <a:ext cx="7128792"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710673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620688"/>
            <a:ext cx="8229600" cy="5832648"/>
          </a:xfrm>
        </p:spPr>
        <p:txBody>
          <a:bodyPr>
            <a:normAutofit fontScale="77500" lnSpcReduction="20000"/>
          </a:bodyPr>
          <a:lstStyle/>
          <a:p>
            <a:pPr marL="0" indent="0">
              <a:buNone/>
            </a:pPr>
            <a:r>
              <a:rPr lang="en-IN" dirty="0"/>
              <a:t>Most of the operating systems access the file sequentially. In other words, we can say that most of the files need to be accessed sequentially by the operating system</a:t>
            </a:r>
            <a:r>
              <a:rPr lang="en-IN" dirty="0" smtClean="0"/>
              <a:t>.</a:t>
            </a:r>
          </a:p>
          <a:p>
            <a:pPr marL="0" indent="0">
              <a:buNone/>
            </a:pPr>
            <a:endParaRPr lang="en-IN" dirty="0"/>
          </a:p>
          <a:p>
            <a:pPr marL="0" indent="0">
              <a:buNone/>
            </a:pPr>
            <a:r>
              <a:rPr lang="en-IN" dirty="0"/>
              <a:t>In sequential access, the OS read the file word by word. A pointer is maintained which initially points to the base address of the file. If the user wants to read first word of the file then the pointer provides that word to the user and increases its value by 1 word. This process continues till the end of the file</a:t>
            </a:r>
            <a:r>
              <a:rPr lang="en-IN" dirty="0" smtClean="0"/>
              <a:t>.</a:t>
            </a:r>
          </a:p>
          <a:p>
            <a:pPr marL="0" indent="0">
              <a:buNone/>
            </a:pPr>
            <a:endParaRPr lang="en-IN" dirty="0"/>
          </a:p>
          <a:p>
            <a:pPr marL="0" indent="0">
              <a:buNone/>
            </a:pPr>
            <a:r>
              <a:rPr lang="en-IN" dirty="0"/>
              <a:t>Modern word systems do provide the concept of direct access and indexed access but the most used method is sequential access due to the fact that most of the files such as text files, audio files, video files, </a:t>
            </a:r>
            <a:r>
              <a:rPr lang="en-IN" dirty="0" err="1"/>
              <a:t>etc</a:t>
            </a:r>
            <a:r>
              <a:rPr lang="en-IN" dirty="0"/>
              <a:t> need to be sequentially accessed.</a:t>
            </a:r>
          </a:p>
          <a:p>
            <a:pPr marL="0" indent="0">
              <a:buNone/>
            </a:pPr>
            <a:r>
              <a:rPr lang="en-IN" dirty="0"/>
              <a:t/>
            </a:r>
            <a:br>
              <a:rPr lang="en-IN" dirty="0"/>
            </a:br>
            <a:endParaRPr lang="en-IN" dirty="0"/>
          </a:p>
        </p:txBody>
      </p:sp>
    </p:spTree>
    <p:extLst>
      <p:ext uri="{BB962C8B-B14F-4D97-AF65-F5344CB8AC3E}">
        <p14:creationId xmlns:p14="http://schemas.microsoft.com/office/powerpoint/2010/main" val="126843804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Direct Access </a:t>
            </a:r>
            <a:endParaRPr lang="en-IN" dirty="0"/>
          </a:p>
        </p:txBody>
      </p:sp>
      <p:pic>
        <p:nvPicPr>
          <p:cNvPr id="5128" name="Picture 8" descr="os File Access Metho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844824"/>
            <a:ext cx="5544616"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56631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85000" lnSpcReduction="20000"/>
          </a:bodyPr>
          <a:lstStyle/>
          <a:p>
            <a:r>
              <a:rPr lang="en-IN" dirty="0"/>
              <a:t>The Direct Access is mostly required in the case of database systems. In most of the cases, we need filtered information from the database. The sequential access can be very slow and inefficient in such cases.</a:t>
            </a:r>
          </a:p>
          <a:p>
            <a:r>
              <a:rPr lang="en-IN" dirty="0"/>
              <a:t>Suppose every block of the storage stores 4 records and we know that the record we needed is stored in 10th block. In that case, the sequential access will not be implemented because it will traverse all the blocks in order to access the needed record.</a:t>
            </a:r>
          </a:p>
          <a:p>
            <a:r>
              <a:rPr lang="en-IN" dirty="0"/>
              <a:t>Direct access will give the required result despite of the fact that the operating system has to perform some complex tasks such as determining the desired block number. However, that is generally implemented in database applications.</a:t>
            </a:r>
          </a:p>
          <a:p>
            <a:pPr marL="0" indent="0">
              <a:buNone/>
            </a:pPr>
            <a:r>
              <a:rPr lang="en-IN" dirty="0"/>
              <a:t/>
            </a:r>
            <a:br>
              <a:rPr lang="en-IN" dirty="0"/>
            </a:br>
            <a:endParaRPr lang="en-IN" dirty="0"/>
          </a:p>
        </p:txBody>
      </p:sp>
    </p:spTree>
    <p:extLst>
      <p:ext uri="{BB962C8B-B14F-4D97-AF65-F5344CB8AC3E}">
        <p14:creationId xmlns:p14="http://schemas.microsoft.com/office/powerpoint/2010/main" val="180409547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Indexed Access</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If a file can be sorted on any of the filed then an index can be assigned to a group of certain records. However, A particular record can be accessed by its index. The index is nothing but the address of a record in the file.</a:t>
            </a:r>
          </a:p>
          <a:p>
            <a:r>
              <a:rPr lang="en-IN" dirty="0"/>
              <a:t>In index accessing, searching in a large database became very quick and easy but we need to have some extra space in the memory to store the index value.</a:t>
            </a:r>
          </a:p>
          <a:p>
            <a:pPr marL="0" indent="0">
              <a:buNone/>
            </a:pPr>
            <a:r>
              <a:rPr lang="en-IN" dirty="0"/>
              <a:t/>
            </a:r>
            <a:br>
              <a:rPr lang="en-IN" dirty="0"/>
            </a:br>
            <a:endParaRPr lang="en-IN" dirty="0"/>
          </a:p>
        </p:txBody>
      </p:sp>
    </p:spTree>
    <p:extLst>
      <p:ext uri="{BB962C8B-B14F-4D97-AF65-F5344CB8AC3E}">
        <p14:creationId xmlns:p14="http://schemas.microsoft.com/office/powerpoint/2010/main" val="301252293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Directory Structure</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dirty="0"/>
              <a:t>What is a directory?</a:t>
            </a:r>
          </a:p>
          <a:p>
            <a:r>
              <a:rPr lang="en-IN" dirty="0"/>
              <a:t>Directory can be defined as the listing of the related files on the disk. The directory may store some or the entire file attributes.</a:t>
            </a:r>
          </a:p>
          <a:p>
            <a:r>
              <a:rPr lang="en-IN" dirty="0"/>
              <a:t>To get the benefit of different file systems on the different operating systems, A hard disk can be divided into the number of partitions of different sizes. The partitions are also called volumes or mini disks.</a:t>
            </a:r>
          </a:p>
          <a:p>
            <a:r>
              <a:rPr lang="en-IN" dirty="0"/>
              <a:t>Each partition must have at least one directory in which, all the files of the partition can be listed. A directory entry is maintained for each file in the directory which stores all the information related to that file.</a:t>
            </a:r>
          </a:p>
          <a:p>
            <a:pPr marL="0" indent="0">
              <a:buNone/>
            </a:pPr>
            <a:r>
              <a:rPr lang="en-IN" dirty="0"/>
              <a:t/>
            </a:r>
            <a:br>
              <a:rPr lang="en-IN" dirty="0"/>
            </a:br>
            <a:endParaRPr lang="en-IN" dirty="0"/>
          </a:p>
        </p:txBody>
      </p:sp>
    </p:spTree>
    <p:extLst>
      <p:ext uri="{BB962C8B-B14F-4D97-AF65-F5344CB8AC3E}">
        <p14:creationId xmlns:p14="http://schemas.microsoft.com/office/powerpoint/2010/main" val="337575965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os Directory Stru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404664"/>
            <a:ext cx="8244408" cy="621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34883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a:bodyPr>
          <a:lstStyle/>
          <a:p>
            <a:pPr marL="0" indent="0">
              <a:buNone/>
            </a:pPr>
            <a:r>
              <a:rPr lang="en-IN" dirty="0"/>
              <a:t>A directory can be viewed as a file which contains the Meta data of the bunch of files.</a:t>
            </a:r>
          </a:p>
          <a:p>
            <a:pPr marL="0" indent="0">
              <a:buNone/>
            </a:pPr>
            <a:r>
              <a:rPr lang="en-IN" dirty="0" smtClean="0"/>
              <a:t>Every </a:t>
            </a:r>
            <a:r>
              <a:rPr lang="en-IN" dirty="0"/>
              <a:t>Directory supports a number of common operations on the file:</a:t>
            </a:r>
          </a:p>
          <a:p>
            <a:r>
              <a:rPr lang="en-IN" dirty="0"/>
              <a:t>File Creation</a:t>
            </a:r>
          </a:p>
          <a:p>
            <a:r>
              <a:rPr lang="en-IN" dirty="0"/>
              <a:t>Search for the file</a:t>
            </a:r>
          </a:p>
          <a:p>
            <a:r>
              <a:rPr lang="en-IN" dirty="0"/>
              <a:t>File deletion</a:t>
            </a:r>
          </a:p>
          <a:p>
            <a:r>
              <a:rPr lang="en-IN" dirty="0"/>
              <a:t>Renaming the file</a:t>
            </a:r>
          </a:p>
          <a:p>
            <a:r>
              <a:rPr lang="en-IN" dirty="0"/>
              <a:t>Traversing Files</a:t>
            </a:r>
          </a:p>
          <a:p>
            <a:r>
              <a:rPr lang="en-IN" dirty="0"/>
              <a:t>Listing of files</a:t>
            </a:r>
          </a:p>
          <a:p>
            <a:endParaRPr lang="en-IN" dirty="0"/>
          </a:p>
        </p:txBody>
      </p:sp>
    </p:spTree>
    <p:extLst>
      <p:ext uri="{BB962C8B-B14F-4D97-AF65-F5344CB8AC3E}">
        <p14:creationId xmlns:p14="http://schemas.microsoft.com/office/powerpoint/2010/main" val="388049754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Single Level Directory</a:t>
            </a:r>
            <a:br>
              <a:rPr lang="en-IN" dirty="0"/>
            </a:br>
            <a:endParaRPr lang="en-IN" dirty="0"/>
          </a:p>
        </p:txBody>
      </p:sp>
      <p:sp>
        <p:nvSpPr>
          <p:cNvPr id="3" name="Content Placeholder 2"/>
          <p:cNvSpPr>
            <a:spLocks noGrp="1"/>
          </p:cNvSpPr>
          <p:nvPr>
            <p:ph idx="1"/>
          </p:nvPr>
        </p:nvSpPr>
        <p:spPr/>
        <p:txBody>
          <a:bodyPr/>
          <a:lstStyle/>
          <a:p>
            <a:r>
              <a:rPr lang="en-IN" dirty="0" smtClean="0"/>
              <a:t>The </a:t>
            </a:r>
            <a:r>
              <a:rPr lang="en-IN" dirty="0"/>
              <a:t>simplest method is to have one big list of all the files on the disk. The entire system will contain only one directory which is supposed to mention all the files present in the file system. The directory contains one entry per each file present on the file system.</a:t>
            </a:r>
          </a:p>
          <a:p>
            <a:pPr marL="0" indent="0">
              <a:buNone/>
            </a:pPr>
            <a:r>
              <a:rPr lang="en-IN" dirty="0"/>
              <a:t/>
            </a:r>
            <a:br>
              <a:rPr lang="en-IN" dirty="0"/>
            </a:br>
            <a:endParaRPr lang="en-IN" dirty="0"/>
          </a:p>
        </p:txBody>
      </p:sp>
      <p:pic>
        <p:nvPicPr>
          <p:cNvPr id="1028" name="Picture 4" descr="os Single Level Direc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9575" y="4752109"/>
            <a:ext cx="5276850" cy="1914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87784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70000" lnSpcReduction="20000"/>
          </a:bodyPr>
          <a:lstStyle/>
          <a:p>
            <a:pPr marL="0" indent="0">
              <a:buNone/>
            </a:pPr>
            <a:r>
              <a:rPr lang="en-IN" dirty="0" smtClean="0"/>
              <a:t>This </a:t>
            </a:r>
            <a:r>
              <a:rPr lang="en-IN" dirty="0"/>
              <a:t>type of directories can be used for a simple system.</a:t>
            </a:r>
          </a:p>
          <a:p>
            <a:pPr marL="0" indent="0">
              <a:buNone/>
            </a:pPr>
            <a:r>
              <a:rPr lang="en-IN" dirty="0"/>
              <a:t>Advantages</a:t>
            </a:r>
          </a:p>
          <a:p>
            <a:r>
              <a:rPr lang="en-IN" dirty="0"/>
              <a:t>Implementation is very simple.</a:t>
            </a:r>
          </a:p>
          <a:p>
            <a:r>
              <a:rPr lang="en-IN" dirty="0"/>
              <a:t>If the sizes of the files are very small then the searching becomes faster.</a:t>
            </a:r>
          </a:p>
          <a:p>
            <a:r>
              <a:rPr lang="en-IN" dirty="0"/>
              <a:t>File creation, searching, deletion is very simple since we have only one directory.</a:t>
            </a:r>
          </a:p>
          <a:p>
            <a:pPr marL="0" indent="0">
              <a:buNone/>
            </a:pPr>
            <a:r>
              <a:rPr lang="en-IN" dirty="0"/>
              <a:t>Disadvantages</a:t>
            </a:r>
          </a:p>
          <a:p>
            <a:r>
              <a:rPr lang="en-IN" dirty="0"/>
              <a:t>We cannot have two files with the same name.</a:t>
            </a:r>
          </a:p>
          <a:p>
            <a:r>
              <a:rPr lang="en-IN" dirty="0"/>
              <a:t>The directory may be very big therefore searching for a file may take so much time.</a:t>
            </a:r>
          </a:p>
          <a:p>
            <a:r>
              <a:rPr lang="en-IN" dirty="0"/>
              <a:t>Protection cannot be implemented for multiple users.</a:t>
            </a:r>
          </a:p>
          <a:p>
            <a:r>
              <a:rPr lang="en-IN" dirty="0"/>
              <a:t>There are no ways to group same kind of files.</a:t>
            </a:r>
          </a:p>
          <a:p>
            <a:r>
              <a:rPr lang="en-IN" dirty="0"/>
              <a:t>Choosing the unique name for every file is a bit complex and limits the number of files in the system because most of the Operating System limits the number of characters used to construct the file name.</a:t>
            </a:r>
          </a:p>
          <a:p>
            <a:pPr marL="0" indent="0">
              <a:buNone/>
            </a:pPr>
            <a:endParaRPr lang="en-IN" dirty="0"/>
          </a:p>
        </p:txBody>
      </p:sp>
    </p:spTree>
    <p:extLst>
      <p:ext uri="{BB962C8B-B14F-4D97-AF65-F5344CB8AC3E}">
        <p14:creationId xmlns:p14="http://schemas.microsoft.com/office/powerpoint/2010/main" val="396251324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Two Level Directory</a:t>
            </a:r>
            <a:br>
              <a:rPr lang="en-IN" dirty="0"/>
            </a:br>
            <a:endParaRPr lang="en-IN" dirty="0"/>
          </a:p>
        </p:txBody>
      </p:sp>
      <p:sp>
        <p:nvSpPr>
          <p:cNvPr id="3" name="Content Placeholder 2"/>
          <p:cNvSpPr>
            <a:spLocks noGrp="1"/>
          </p:cNvSpPr>
          <p:nvPr>
            <p:ph idx="1"/>
          </p:nvPr>
        </p:nvSpPr>
        <p:spPr>
          <a:xfrm>
            <a:off x="457200" y="1600201"/>
            <a:ext cx="8229600" cy="2188839"/>
          </a:xfrm>
        </p:spPr>
        <p:txBody>
          <a:bodyPr>
            <a:normAutofit fontScale="70000" lnSpcReduction="20000"/>
          </a:bodyPr>
          <a:lstStyle/>
          <a:p>
            <a:r>
              <a:rPr lang="en-IN" dirty="0"/>
              <a:t>In two level directory systems, we can create a separate directory for each user. There is one master directory which contains separate directories dedicated to each user. For each user, there is a different directory present at the second level, containing group of user's file. The system doesn't let a user to enter in the other user's </a:t>
            </a:r>
            <a:r>
              <a:rPr lang="en-IN" dirty="0" smtClean="0"/>
              <a:t>directory </a:t>
            </a:r>
            <a:r>
              <a:rPr lang="en-IN" dirty="0"/>
              <a:t>without permission.</a:t>
            </a:r>
          </a:p>
        </p:txBody>
      </p:sp>
      <p:pic>
        <p:nvPicPr>
          <p:cNvPr id="2052" name="Picture 4" descr="os Two Level Direc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501008"/>
            <a:ext cx="7181850" cy="2771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48690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85000" lnSpcReduction="20000"/>
          </a:bodyPr>
          <a:lstStyle/>
          <a:p>
            <a:pPr marL="0" indent="0">
              <a:buNone/>
            </a:pPr>
            <a:r>
              <a:rPr lang="en-IN" dirty="0"/>
              <a:t>Characteristics of two level directory system</a:t>
            </a:r>
          </a:p>
          <a:p>
            <a:r>
              <a:rPr lang="en-IN" dirty="0"/>
              <a:t>Each files has a path name as </a:t>
            </a:r>
            <a:r>
              <a:rPr lang="en-IN" b="1" i="1" dirty="0"/>
              <a:t>/User-name/directory-name/</a:t>
            </a:r>
            <a:endParaRPr lang="en-IN" dirty="0"/>
          </a:p>
          <a:p>
            <a:r>
              <a:rPr lang="en-IN" dirty="0"/>
              <a:t>Different users can have the same file name.</a:t>
            </a:r>
          </a:p>
          <a:p>
            <a:r>
              <a:rPr lang="en-IN" dirty="0"/>
              <a:t>Searching becomes more efficient as only one user's list needs to be traversed.</a:t>
            </a:r>
          </a:p>
          <a:p>
            <a:r>
              <a:rPr lang="en-IN" dirty="0"/>
              <a:t>The same kind of files cannot be grouped into a single directory for a particular user.</a:t>
            </a:r>
          </a:p>
          <a:p>
            <a:r>
              <a:rPr lang="en-IN" dirty="0"/>
              <a:t>Every Operating System maintains a variable as </a:t>
            </a:r>
            <a:r>
              <a:rPr lang="en-IN" b="1" dirty="0"/>
              <a:t>PWD</a:t>
            </a:r>
            <a:r>
              <a:rPr lang="en-IN" dirty="0"/>
              <a:t> which contains the present directory name (present user name) so that the searching can be done appropriately.</a:t>
            </a:r>
          </a:p>
          <a:p>
            <a:pPr marL="0" indent="0">
              <a:buNone/>
            </a:pPr>
            <a:r>
              <a:rPr lang="en-IN" dirty="0"/>
              <a:t/>
            </a:r>
            <a:br>
              <a:rPr lang="en-IN" dirty="0"/>
            </a:br>
            <a:endParaRPr lang="en-IN" dirty="0"/>
          </a:p>
        </p:txBody>
      </p:sp>
    </p:spTree>
    <p:extLst>
      <p:ext uri="{BB962C8B-B14F-4D97-AF65-F5344CB8AC3E}">
        <p14:creationId xmlns:p14="http://schemas.microsoft.com/office/powerpoint/2010/main" val="223714745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Tree Structured Directory</a:t>
            </a:r>
            <a:br>
              <a:rPr lang="en-IN" dirty="0"/>
            </a:b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IN" dirty="0"/>
              <a:t>In Tree structured directory system, any directory entry can either be a file or sub directory. Tree structured directory system overcomes the drawbacks of two level directory system. The similar kind of files can now be grouped in one directory.</a:t>
            </a:r>
          </a:p>
          <a:p>
            <a:pPr marL="0" indent="0">
              <a:buNone/>
            </a:pPr>
            <a:r>
              <a:rPr lang="en-IN" dirty="0"/>
              <a:t>Each user has its own directory and it cannot enter in the other user's directory. However, the user has the permission to read the root's data but he cannot write or modify this. Only administrator of the system has the complete access of root directory.</a:t>
            </a:r>
          </a:p>
          <a:p>
            <a:pPr marL="0" indent="0">
              <a:buNone/>
            </a:pPr>
            <a:r>
              <a:rPr lang="en-IN" dirty="0"/>
              <a:t>Searching is more efficient in this directory structure. The concept of current working directory is used. A file can be accessed by two types of path, either relative or absolute.</a:t>
            </a:r>
          </a:p>
          <a:p>
            <a:pPr marL="0" indent="0">
              <a:buNone/>
            </a:pPr>
            <a:r>
              <a:rPr lang="en-IN" dirty="0"/>
              <a:t>Absolute path is the path of the file with respect to the root directory of the system while relative path is the path with respect to the current working directory of the system. In tree structured directory systems, the user is given the privilege to create the files as well as directories.</a:t>
            </a:r>
          </a:p>
          <a:p>
            <a:pPr marL="0" indent="0">
              <a:buNone/>
            </a:pPr>
            <a:r>
              <a:rPr lang="en-IN" dirty="0"/>
              <a:t/>
            </a:r>
            <a:br>
              <a:rPr lang="en-IN" dirty="0"/>
            </a:br>
            <a:endParaRPr lang="en-IN" dirty="0"/>
          </a:p>
        </p:txBody>
      </p:sp>
    </p:spTree>
    <p:extLst>
      <p:ext uri="{BB962C8B-B14F-4D97-AF65-F5344CB8AC3E}">
        <p14:creationId xmlns:p14="http://schemas.microsoft.com/office/powerpoint/2010/main" val="77149244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9" name="Picture 7" descr="os Tree Structured Direct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602952"/>
            <a:ext cx="8136904" cy="5202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82334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Permissions on the file and directory</a:t>
            </a:r>
            <a:br>
              <a:rPr lang="en-IN" dirty="0"/>
            </a:br>
            <a:endParaRPr lang="en-IN" dirty="0"/>
          </a:p>
        </p:txBody>
      </p:sp>
      <p:sp>
        <p:nvSpPr>
          <p:cNvPr id="3" name="Content Placeholder 2"/>
          <p:cNvSpPr>
            <a:spLocks noGrp="1"/>
          </p:cNvSpPr>
          <p:nvPr>
            <p:ph idx="1"/>
          </p:nvPr>
        </p:nvSpPr>
        <p:spPr/>
        <p:txBody>
          <a:bodyPr>
            <a:normAutofit fontScale="70000" lnSpcReduction="20000"/>
          </a:bodyPr>
          <a:lstStyle/>
          <a:p>
            <a:pPr marL="0" indent="0" algn="just">
              <a:buNone/>
            </a:pPr>
            <a:r>
              <a:rPr lang="en-IN" dirty="0" smtClean="0"/>
              <a:t>A </a:t>
            </a:r>
            <a:r>
              <a:rPr lang="en-IN" dirty="0"/>
              <a:t>tree structured directory system may consist of various levels therefore there is a set of permissions assigned to each file and directory.</a:t>
            </a:r>
          </a:p>
          <a:p>
            <a:pPr marL="0" indent="0" algn="just">
              <a:buNone/>
            </a:pPr>
            <a:r>
              <a:rPr lang="en-IN" dirty="0"/>
              <a:t>The permissions are </a:t>
            </a:r>
            <a:r>
              <a:rPr lang="en-IN" b="1" dirty="0"/>
              <a:t>R W X</a:t>
            </a:r>
            <a:r>
              <a:rPr lang="en-IN" dirty="0"/>
              <a:t> which are regarding reading, writing and the execution of the files or directory. The permissions are assigned to three types of users: owner, group and others.</a:t>
            </a:r>
          </a:p>
          <a:p>
            <a:pPr marL="0" indent="0" algn="just">
              <a:buNone/>
            </a:pPr>
            <a:r>
              <a:rPr lang="en-IN" dirty="0"/>
              <a:t>There is a identification bit which differentiate between directory and file. For a directory, it is </a:t>
            </a:r>
            <a:r>
              <a:rPr lang="en-IN" b="1" dirty="0"/>
              <a:t>d</a:t>
            </a:r>
            <a:r>
              <a:rPr lang="en-IN" dirty="0"/>
              <a:t> and for a file, it is dot </a:t>
            </a:r>
            <a:r>
              <a:rPr lang="en-IN" b="1" dirty="0"/>
              <a:t>(.)</a:t>
            </a:r>
            <a:endParaRPr lang="en-IN" dirty="0"/>
          </a:p>
          <a:p>
            <a:pPr marL="0" indent="0" algn="just">
              <a:buNone/>
            </a:pPr>
            <a:r>
              <a:rPr lang="en-IN" dirty="0"/>
              <a:t>The following snapshot shows the permissions assigned to a file in a Linux based system. Initial bit </a:t>
            </a:r>
            <a:r>
              <a:rPr lang="en-IN" b="1" dirty="0"/>
              <a:t>d</a:t>
            </a:r>
            <a:r>
              <a:rPr lang="en-IN" dirty="0"/>
              <a:t> represents that it is a directory.</a:t>
            </a:r>
          </a:p>
          <a:p>
            <a:pPr marL="0" indent="0" algn="just">
              <a:buNone/>
            </a:pPr>
            <a:r>
              <a:rPr lang="en-IN" dirty="0"/>
              <a:t/>
            </a:r>
            <a:br>
              <a:rPr lang="en-IN" dirty="0"/>
            </a:br>
            <a:endParaRPr lang="en-IN" dirty="0"/>
          </a:p>
        </p:txBody>
      </p:sp>
    </p:spTree>
    <p:extLst>
      <p:ext uri="{BB962C8B-B14F-4D97-AF65-F5344CB8AC3E}">
        <p14:creationId xmlns:p14="http://schemas.microsoft.com/office/powerpoint/2010/main" val="42144016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Acyclic-Graph Structured Directories</a:t>
            </a:r>
            <a:br>
              <a:rPr lang="en-IN" dirty="0"/>
            </a:br>
            <a:endParaRPr lang="en-IN" dirty="0"/>
          </a:p>
        </p:txBody>
      </p:sp>
      <p:sp>
        <p:nvSpPr>
          <p:cNvPr id="4" name="Content Placeholder 3"/>
          <p:cNvSpPr>
            <a:spLocks noGrp="1"/>
          </p:cNvSpPr>
          <p:nvPr>
            <p:ph idx="1"/>
          </p:nvPr>
        </p:nvSpPr>
        <p:spPr/>
        <p:txBody>
          <a:bodyPr>
            <a:normAutofit fontScale="62500" lnSpcReduction="20000"/>
          </a:bodyPr>
          <a:lstStyle/>
          <a:p>
            <a:pPr marL="0" indent="0">
              <a:buNone/>
            </a:pPr>
            <a:r>
              <a:rPr lang="en-IN" dirty="0"/>
              <a:t>The tree structured directory system doesn't allow the same file to exist in multiple directories therefore sharing is major concern in tree structured directory system. We can provide sharing by making the directory an acyclic graph. In this system, two or more directory entry can point to the same file or sub directory. That file or sub directory is shared between the two directory entries.</a:t>
            </a:r>
          </a:p>
          <a:p>
            <a:pPr marL="0" indent="0">
              <a:buNone/>
            </a:pPr>
            <a:r>
              <a:rPr lang="en-IN" dirty="0"/>
              <a:t>These kinds of directory graphs can be made using links or aliases. We can have multiple paths for a same file. Links can either be symbolic (logical) or hard link (physical).</a:t>
            </a:r>
          </a:p>
          <a:p>
            <a:pPr marL="0" indent="0">
              <a:buNone/>
            </a:pPr>
            <a:r>
              <a:rPr lang="en-IN" dirty="0"/>
              <a:t>If a file gets deleted in acyclic graph structured directory system, then</a:t>
            </a:r>
          </a:p>
          <a:p>
            <a:pPr marL="0" indent="0">
              <a:buNone/>
            </a:pPr>
            <a:r>
              <a:rPr lang="en-IN" dirty="0"/>
              <a:t>1. In the case of soft link, the file just gets deleted and we are left with a dangling pointer.</a:t>
            </a:r>
          </a:p>
          <a:p>
            <a:pPr marL="0" indent="0">
              <a:buNone/>
            </a:pPr>
            <a:r>
              <a:rPr lang="en-IN" dirty="0"/>
              <a:t>2. In the case of hard link, the actual file will be deleted only if all the references to it gets deleted.</a:t>
            </a:r>
          </a:p>
          <a:p>
            <a:pPr marL="0" indent="0">
              <a:buNone/>
            </a:pPr>
            <a:r>
              <a:rPr lang="en-IN" dirty="0"/>
              <a:t/>
            </a:r>
            <a:br>
              <a:rPr lang="en-IN" dirty="0"/>
            </a:br>
            <a:endParaRPr lang="en-IN" dirty="0"/>
          </a:p>
        </p:txBody>
      </p:sp>
    </p:spTree>
    <p:extLst>
      <p:ext uri="{BB962C8B-B14F-4D97-AF65-F5344CB8AC3E}">
        <p14:creationId xmlns:p14="http://schemas.microsoft.com/office/powerpoint/2010/main" val="230572619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os Acyclic-Graph Structured Directo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124744"/>
            <a:ext cx="7272808" cy="4211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74744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16632"/>
            <a:ext cx="9144000" cy="6552728"/>
          </a:xfrm>
        </p:spPr>
        <p:txBody>
          <a:bodyPr>
            <a:normAutofit fontScale="55000" lnSpcReduction="20000"/>
          </a:bodyPr>
          <a:lstStyle/>
          <a:p>
            <a:pPr marL="0" indent="0">
              <a:buNone/>
            </a:pPr>
            <a:r>
              <a:rPr lang="en-IN" b="1" dirty="0"/>
              <a:t>File system </a:t>
            </a:r>
            <a:r>
              <a:rPr lang="en-IN" dirty="0"/>
              <a:t>is the part of the operating system which is responsible for file management. It provides a mechanism to store the data and access to the file contents including data and programs. Some Operating systems treats everything as a file for example Ubuntu.</a:t>
            </a:r>
          </a:p>
          <a:p>
            <a:pPr marL="0" indent="0">
              <a:buNone/>
            </a:pPr>
            <a:r>
              <a:rPr lang="en-IN" dirty="0"/>
              <a:t>The File system takes care of the following issues</a:t>
            </a:r>
          </a:p>
          <a:p>
            <a:pPr marL="0" indent="0">
              <a:buNone/>
            </a:pPr>
            <a:r>
              <a:rPr lang="en-IN" b="1" dirty="0"/>
              <a:t>File Structure</a:t>
            </a:r>
            <a:endParaRPr lang="en-IN" dirty="0"/>
          </a:p>
          <a:p>
            <a:pPr marL="0" indent="0">
              <a:buNone/>
            </a:pPr>
            <a:r>
              <a:rPr lang="en-IN" dirty="0"/>
              <a:t>We have seen various data structures in which the file can be stored. The task of the file system is to maintain an optimal file structure</a:t>
            </a:r>
            <a:r>
              <a:rPr lang="en-IN" dirty="0" smtClean="0"/>
              <a:t>.</a:t>
            </a:r>
          </a:p>
          <a:p>
            <a:pPr marL="0" indent="0">
              <a:buNone/>
            </a:pPr>
            <a:endParaRPr lang="en-IN" dirty="0"/>
          </a:p>
          <a:p>
            <a:pPr marL="0" indent="0">
              <a:buNone/>
            </a:pPr>
            <a:r>
              <a:rPr lang="en-IN" b="1" dirty="0"/>
              <a:t>Recovering Free space</a:t>
            </a:r>
            <a:endParaRPr lang="en-IN" dirty="0"/>
          </a:p>
          <a:p>
            <a:pPr marL="0" indent="0">
              <a:buNone/>
            </a:pPr>
            <a:r>
              <a:rPr lang="en-IN" dirty="0"/>
              <a:t>Whenever a file gets deleted from the hard disk, there is a free space created in the disk. There can be many such spaces which need to be recovered in order to reallocate them to other files</a:t>
            </a:r>
            <a:r>
              <a:rPr lang="en-IN" dirty="0" smtClean="0"/>
              <a:t>.</a:t>
            </a:r>
          </a:p>
          <a:p>
            <a:pPr marL="0" indent="0">
              <a:buNone/>
            </a:pPr>
            <a:endParaRPr lang="en-IN" dirty="0"/>
          </a:p>
          <a:p>
            <a:pPr marL="0" indent="0">
              <a:buNone/>
            </a:pPr>
            <a:r>
              <a:rPr lang="en-IN" b="1" dirty="0"/>
              <a:t>disk space assignment to the files</a:t>
            </a:r>
            <a:endParaRPr lang="en-IN" dirty="0"/>
          </a:p>
          <a:p>
            <a:pPr marL="0" indent="0">
              <a:buNone/>
            </a:pPr>
            <a:r>
              <a:rPr lang="en-IN" dirty="0"/>
              <a:t>The major concern about the file is deciding where to store the files on the hard disk. There are various disks scheduling algorithm which will be covered later in this tutorial</a:t>
            </a:r>
            <a:r>
              <a:rPr lang="en-IN" dirty="0" smtClean="0"/>
              <a:t>.</a:t>
            </a:r>
          </a:p>
          <a:p>
            <a:pPr marL="0" indent="0">
              <a:buNone/>
            </a:pPr>
            <a:endParaRPr lang="en-IN" dirty="0"/>
          </a:p>
          <a:p>
            <a:pPr marL="0" indent="0">
              <a:buNone/>
            </a:pPr>
            <a:r>
              <a:rPr lang="en-IN" b="1" dirty="0"/>
              <a:t>tracking data location</a:t>
            </a:r>
            <a:endParaRPr lang="en-IN" dirty="0"/>
          </a:p>
          <a:p>
            <a:pPr marL="0" indent="0">
              <a:buNone/>
            </a:pPr>
            <a:r>
              <a:rPr lang="en-IN" dirty="0"/>
              <a:t>A File may or may not be stored within only one block. It can be stored in the non contiguous blocks on the disk. We need to keep track of all the blocks on which the part of the files reside.</a:t>
            </a:r>
          </a:p>
          <a:p>
            <a:pPr marL="0" indent="0">
              <a:buNone/>
            </a:pPr>
            <a:r>
              <a:rPr lang="en-IN" dirty="0"/>
              <a:t/>
            </a:r>
            <a:br>
              <a:rPr lang="en-IN" dirty="0"/>
            </a:br>
            <a:endParaRPr lang="en-IN" dirty="0"/>
          </a:p>
        </p:txBody>
      </p:sp>
    </p:spTree>
    <p:extLst>
      <p:ext uri="{BB962C8B-B14F-4D97-AF65-F5344CB8AC3E}">
        <p14:creationId xmlns:p14="http://schemas.microsoft.com/office/powerpoint/2010/main" val="376517833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File System Structure</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r>
              <a:rPr lang="en-IN" dirty="0"/>
              <a:t>File System provide efficient access to the disk by allowing data to be stored, located and retrieved in a convenient way. A file System must be able to store the file, locate the file and retrieve the file.</a:t>
            </a:r>
            <a:br>
              <a:rPr lang="en-IN" dirty="0"/>
            </a:br>
            <a:r>
              <a:rPr lang="en-IN" dirty="0"/>
              <a:t>Most of the Operating Systems use layering approach for every task including file systems. Every layer of the file system is responsible for some activities.</a:t>
            </a:r>
            <a:br>
              <a:rPr lang="en-IN" dirty="0"/>
            </a:br>
            <a:r>
              <a:rPr lang="en-IN" dirty="0"/>
              <a:t>The image shown below, elaborates how the file system is divided in different layers, and also the functionality of each layer.</a:t>
            </a:r>
            <a:br>
              <a:rPr lang="en-IN" dirty="0"/>
            </a:br>
            <a:r>
              <a:rPr lang="en-IN" dirty="0"/>
              <a:t/>
            </a:r>
            <a:br>
              <a:rPr lang="en-IN" dirty="0"/>
            </a:br>
            <a:endParaRPr lang="en-IN" dirty="0"/>
          </a:p>
        </p:txBody>
      </p:sp>
    </p:spTree>
    <p:extLst>
      <p:ext uri="{BB962C8B-B14F-4D97-AF65-F5344CB8AC3E}">
        <p14:creationId xmlns:p14="http://schemas.microsoft.com/office/powerpoint/2010/main" val="357303698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35696" y="260648"/>
            <a:ext cx="4464496" cy="5793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595589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62500" lnSpcReduction="20000"/>
          </a:bodyPr>
          <a:lstStyle/>
          <a:p>
            <a:r>
              <a:rPr lang="en-IN" dirty="0"/>
              <a:t>When an application program asks for a file, the first request is directed to the logical file system. The logical file system contains the Meta data of the file and directory structure. If the application program doesn't have the required permissions of the file then this layer will throw an error. Logical file systems also verify the path to the file.</a:t>
            </a:r>
          </a:p>
          <a:p>
            <a:r>
              <a:rPr lang="en-IN" dirty="0"/>
              <a:t>Generally, files are divided into various logical blocks. Files are to be stored in the hard disk and to be retrieved from the hard disk. Hard disk is divided into various tracks and sectors. Therefore, in order to store and retrieve the files, the logical blocks need to be mapped to physical blocks. This mapping is done by File organization module. It is also responsible for free space management.</a:t>
            </a:r>
          </a:p>
          <a:p>
            <a:r>
              <a:rPr lang="en-IN" dirty="0"/>
              <a:t>Once File organization module decided which physical block the application program needs, it passes this information to basic file system. The basic file system is responsible for issuing the commands to I/O control in order to fetch those blocks.</a:t>
            </a:r>
          </a:p>
          <a:p>
            <a:r>
              <a:rPr lang="en-IN" dirty="0"/>
              <a:t>I/O controls contain the codes by using which it can access hard disk. These codes are known as device drivers. I/O controls are also responsible for handling interrupts</a:t>
            </a:r>
            <a:r>
              <a:rPr lang="en-IN" dirty="0" smtClean="0"/>
              <a:t>.</a:t>
            </a:r>
            <a:r>
              <a:rPr lang="en-IN" dirty="0"/>
              <a:t/>
            </a:r>
            <a:br>
              <a:rPr lang="en-IN" dirty="0"/>
            </a:br>
            <a:endParaRPr lang="en-IN" dirty="0"/>
          </a:p>
        </p:txBody>
      </p:sp>
    </p:spTree>
    <p:extLst>
      <p:ext uri="{BB962C8B-B14F-4D97-AF65-F5344CB8AC3E}">
        <p14:creationId xmlns:p14="http://schemas.microsoft.com/office/powerpoint/2010/main" val="230711516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IN" b="1" dirty="0"/>
              <a:t>File Allocation Methods</a:t>
            </a:r>
          </a:p>
        </p:txBody>
      </p:sp>
      <p:sp>
        <p:nvSpPr>
          <p:cNvPr id="3" name="Content Placeholder 2"/>
          <p:cNvSpPr>
            <a:spLocks noGrp="1"/>
          </p:cNvSpPr>
          <p:nvPr>
            <p:ph idx="1"/>
          </p:nvPr>
        </p:nvSpPr>
        <p:spPr/>
        <p:txBody>
          <a:bodyPr>
            <a:normAutofit fontScale="85000" lnSpcReduction="20000"/>
          </a:bodyPr>
          <a:lstStyle/>
          <a:p>
            <a:pPr marL="0" indent="0" fontAlgn="base">
              <a:buNone/>
            </a:pPr>
            <a:r>
              <a:rPr lang="en-IN" dirty="0"/>
              <a:t>The allocation methods define how the files are stored in the disk blocks. There are three main disk space or file allocation methods.</a:t>
            </a:r>
          </a:p>
          <a:p>
            <a:pPr fontAlgn="base"/>
            <a:r>
              <a:rPr lang="en-IN" dirty="0"/>
              <a:t>Contiguous Allocation</a:t>
            </a:r>
          </a:p>
          <a:p>
            <a:pPr fontAlgn="base"/>
            <a:r>
              <a:rPr lang="en-IN" dirty="0"/>
              <a:t>Linked Allocation</a:t>
            </a:r>
          </a:p>
          <a:p>
            <a:pPr fontAlgn="base"/>
            <a:r>
              <a:rPr lang="en-IN" dirty="0"/>
              <a:t>Indexed Allocation</a:t>
            </a:r>
          </a:p>
          <a:p>
            <a:pPr marL="0" indent="0" fontAlgn="base">
              <a:buNone/>
            </a:pPr>
            <a:r>
              <a:rPr lang="en-IN" dirty="0"/>
              <a:t>The main idea behind these methods is to provide:</a:t>
            </a:r>
          </a:p>
          <a:p>
            <a:pPr marL="0" indent="0" fontAlgn="base">
              <a:buNone/>
            </a:pPr>
            <a:r>
              <a:rPr lang="en-IN" dirty="0"/>
              <a:t>Efficient disk space utilization.</a:t>
            </a:r>
          </a:p>
          <a:p>
            <a:pPr marL="0" indent="0" fontAlgn="base">
              <a:buNone/>
            </a:pPr>
            <a:r>
              <a:rPr lang="en-IN" dirty="0"/>
              <a:t>Fast access to the file blocks.</a:t>
            </a:r>
          </a:p>
          <a:p>
            <a:pPr marL="0" indent="0" fontAlgn="base">
              <a:buNone/>
            </a:pPr>
            <a:r>
              <a:rPr lang="en-IN" dirty="0"/>
              <a:t>All the three methods have their own advantages and disadvantages </a:t>
            </a:r>
          </a:p>
          <a:p>
            <a:pPr marL="0" indent="0">
              <a:buNone/>
            </a:pPr>
            <a:endParaRPr lang="en-IN" dirty="0"/>
          </a:p>
        </p:txBody>
      </p:sp>
    </p:spTree>
    <p:extLst>
      <p:ext uri="{BB962C8B-B14F-4D97-AF65-F5344CB8AC3E}">
        <p14:creationId xmlns:p14="http://schemas.microsoft.com/office/powerpoint/2010/main" val="377095485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1. Contiguous Allocation</a:t>
            </a:r>
            <a:endParaRPr lang="en-IN" dirty="0"/>
          </a:p>
        </p:txBody>
      </p:sp>
      <p:sp>
        <p:nvSpPr>
          <p:cNvPr id="3" name="Content Placeholder 2"/>
          <p:cNvSpPr>
            <a:spLocks noGrp="1"/>
          </p:cNvSpPr>
          <p:nvPr>
            <p:ph idx="1"/>
          </p:nvPr>
        </p:nvSpPr>
        <p:spPr/>
        <p:txBody>
          <a:bodyPr>
            <a:normAutofit fontScale="85000" lnSpcReduction="10000"/>
          </a:bodyPr>
          <a:lstStyle/>
          <a:p>
            <a:pPr marL="0" indent="0" fontAlgn="base">
              <a:buNone/>
            </a:pPr>
            <a:r>
              <a:rPr lang="en-IN" dirty="0"/>
              <a:t>In this scheme, each file occupies a contiguous set of blocks on the disk. For example, if a file requires n blocks and is given a block b as the starting location, then the blocks assigned to the file will be:</a:t>
            </a:r>
            <a:r>
              <a:rPr lang="en-IN" i="1" dirty="0"/>
              <a:t> b, b+1, b+2,……b+n-1.</a:t>
            </a:r>
            <a:r>
              <a:rPr lang="en-IN" dirty="0"/>
              <a:t> This means that given the starting block address and the length of the file (in terms of blocks required), we can determine the blocks occupied by the file.</a:t>
            </a:r>
            <a:br>
              <a:rPr lang="en-IN" dirty="0"/>
            </a:br>
            <a:r>
              <a:rPr lang="en-IN" dirty="0"/>
              <a:t>The directory entry for a file with contiguous allocation contains</a:t>
            </a:r>
          </a:p>
          <a:p>
            <a:pPr fontAlgn="base"/>
            <a:r>
              <a:rPr lang="en-IN" dirty="0"/>
              <a:t>Address of starting block</a:t>
            </a:r>
          </a:p>
          <a:p>
            <a:pPr fontAlgn="base"/>
            <a:r>
              <a:rPr lang="en-IN" dirty="0"/>
              <a:t>Length of the allocated portion.</a:t>
            </a:r>
          </a:p>
          <a:p>
            <a:pPr marL="0" indent="0">
              <a:buNone/>
            </a:pPr>
            <a:endParaRPr lang="en-IN" dirty="0"/>
          </a:p>
        </p:txBody>
      </p:sp>
    </p:spTree>
    <p:extLst>
      <p:ext uri="{BB962C8B-B14F-4D97-AF65-F5344CB8AC3E}">
        <p14:creationId xmlns:p14="http://schemas.microsoft.com/office/powerpoint/2010/main" val="195073376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pPr marL="0" indent="0" fontAlgn="base">
              <a:buNone/>
            </a:pPr>
            <a:r>
              <a:rPr lang="en-IN" dirty="0"/>
              <a:t>The</a:t>
            </a:r>
            <a:r>
              <a:rPr lang="en-IN" i="1" dirty="0"/>
              <a:t> file ‘mail’</a:t>
            </a:r>
            <a:r>
              <a:rPr lang="en-IN" dirty="0"/>
              <a:t> in the following figure starts from the block 19 with length = 6 blocks. Therefore, it occupies </a:t>
            </a:r>
            <a:r>
              <a:rPr lang="en-IN" i="1" dirty="0"/>
              <a:t>19, 20, 21, 22, 23, 24</a:t>
            </a:r>
            <a:r>
              <a:rPr lang="en-IN" dirty="0"/>
              <a:t> blocks.</a:t>
            </a:r>
          </a:p>
          <a:p>
            <a:pPr marL="0" indent="0">
              <a:buNone/>
            </a:pPr>
            <a:r>
              <a:rPr lang="en-IN" dirty="0"/>
              <a:t/>
            </a:r>
            <a:br>
              <a:rPr lang="en-IN" dirty="0"/>
            </a:b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132856"/>
            <a:ext cx="5981700" cy="4019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541538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0" indent="0" fontAlgn="base">
              <a:buNone/>
            </a:pPr>
            <a:r>
              <a:rPr lang="en-IN" b="1" dirty="0"/>
              <a:t>Advantages:</a:t>
            </a:r>
            <a:endParaRPr lang="en-IN" dirty="0"/>
          </a:p>
          <a:p>
            <a:pPr fontAlgn="base"/>
            <a:r>
              <a:rPr lang="en-IN" dirty="0"/>
              <a:t>Both the Sequential and Direct Accesses are supported by this. For direct access, the address of the </a:t>
            </a:r>
            <a:r>
              <a:rPr lang="en-IN" dirty="0" err="1"/>
              <a:t>kth</a:t>
            </a:r>
            <a:r>
              <a:rPr lang="en-IN" dirty="0"/>
              <a:t> block of the file which starts at block b can easily be obtained as (</a:t>
            </a:r>
            <a:r>
              <a:rPr lang="en-IN" dirty="0" err="1"/>
              <a:t>b+k</a:t>
            </a:r>
            <a:r>
              <a:rPr lang="en-IN" dirty="0"/>
              <a:t>).</a:t>
            </a:r>
          </a:p>
          <a:p>
            <a:pPr fontAlgn="base"/>
            <a:r>
              <a:rPr lang="en-IN" dirty="0"/>
              <a:t>This is extremely fast since the number of seeks are minimal because of contiguous allocation of file </a:t>
            </a:r>
            <a:r>
              <a:rPr lang="en-IN" dirty="0" smtClean="0"/>
              <a:t>blocks.</a:t>
            </a:r>
            <a:endParaRPr lang="en-IN" dirty="0"/>
          </a:p>
          <a:p>
            <a:pPr marL="0" indent="0" fontAlgn="base">
              <a:buNone/>
            </a:pPr>
            <a:r>
              <a:rPr lang="en-IN" dirty="0"/>
              <a:t/>
            </a:r>
            <a:br>
              <a:rPr lang="en-IN" dirty="0"/>
            </a:br>
            <a:r>
              <a:rPr lang="en-IN" b="1" dirty="0"/>
              <a:t>Disadvantages:</a:t>
            </a:r>
            <a:endParaRPr lang="en-IN" dirty="0"/>
          </a:p>
          <a:p>
            <a:pPr fontAlgn="base"/>
            <a:r>
              <a:rPr lang="en-IN" dirty="0"/>
              <a:t>This method suffers from both internal and external fragmentation. This makes it inefficient in terms of memory utilization.</a:t>
            </a:r>
          </a:p>
          <a:p>
            <a:pPr fontAlgn="base"/>
            <a:r>
              <a:rPr lang="en-IN" dirty="0"/>
              <a:t>Increasing file size is difficult because it depends on the availability of contiguous memory at a particular instance.</a:t>
            </a:r>
          </a:p>
          <a:p>
            <a:endParaRPr lang="en-IN" dirty="0"/>
          </a:p>
        </p:txBody>
      </p:sp>
    </p:spTree>
    <p:extLst>
      <p:ext uri="{BB962C8B-B14F-4D97-AF65-F5344CB8AC3E}">
        <p14:creationId xmlns:p14="http://schemas.microsoft.com/office/powerpoint/2010/main" val="104481247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2. Linked List Allocation</a:t>
            </a:r>
            <a:endParaRPr lang="en-IN" dirty="0"/>
          </a:p>
        </p:txBody>
      </p:sp>
      <p:sp>
        <p:nvSpPr>
          <p:cNvPr id="3" name="Content Placeholder 2"/>
          <p:cNvSpPr>
            <a:spLocks noGrp="1"/>
          </p:cNvSpPr>
          <p:nvPr>
            <p:ph idx="1"/>
          </p:nvPr>
        </p:nvSpPr>
        <p:spPr/>
        <p:txBody>
          <a:bodyPr/>
          <a:lstStyle/>
          <a:p>
            <a:r>
              <a:rPr lang="en-IN" dirty="0"/>
              <a:t>In this scheme, each file is a linked list of disk blocks which</a:t>
            </a:r>
            <a:r>
              <a:rPr lang="en-IN" b="1" dirty="0"/>
              <a:t> need not be </a:t>
            </a:r>
            <a:r>
              <a:rPr lang="en-IN" dirty="0"/>
              <a:t>contiguous. The disk blocks can be scattered anywhere on the disk.</a:t>
            </a:r>
            <a:br>
              <a:rPr lang="en-IN" dirty="0"/>
            </a:br>
            <a:r>
              <a:rPr lang="en-IN" dirty="0"/>
              <a:t>The directory entry contains a pointer to the starting and the ending file block. Each block contains a pointer to the next block occupied by the file.</a:t>
            </a:r>
          </a:p>
        </p:txBody>
      </p:sp>
    </p:spTree>
    <p:extLst>
      <p:ext uri="{BB962C8B-B14F-4D97-AF65-F5344CB8AC3E}">
        <p14:creationId xmlns:p14="http://schemas.microsoft.com/office/powerpoint/2010/main" val="20025205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lstStyle/>
          <a:p>
            <a:r>
              <a:rPr lang="en-IN" i="1" dirty="0"/>
              <a:t>The file ‘jeep’ in following image shows how the blocks are randomly distributed. The last block (25) contains -1 indicating a null pointer and does not point to any other block</a:t>
            </a:r>
            <a:r>
              <a:rPr lang="en-IN" i="1" dirty="0" smtClean="0"/>
              <a:t>.</a:t>
            </a:r>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711" y="2564904"/>
            <a:ext cx="53530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96168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548680"/>
            <a:ext cx="8229600" cy="5649491"/>
          </a:xfrm>
        </p:spPr>
        <p:txBody>
          <a:bodyPr>
            <a:normAutofit fontScale="70000" lnSpcReduction="20000"/>
          </a:bodyPr>
          <a:lstStyle/>
          <a:p>
            <a:pPr marL="0" indent="0" fontAlgn="base">
              <a:buNone/>
            </a:pPr>
            <a:r>
              <a:rPr lang="en-IN" b="1" dirty="0"/>
              <a:t>Advantages:</a:t>
            </a:r>
            <a:endParaRPr lang="en-IN" dirty="0"/>
          </a:p>
          <a:p>
            <a:pPr fontAlgn="base"/>
            <a:r>
              <a:rPr lang="en-IN" dirty="0"/>
              <a:t>This is very flexible in terms of file size. File size can be increased easily since the system does not have to look for a contiguous chunk of memory.</a:t>
            </a:r>
          </a:p>
          <a:p>
            <a:pPr fontAlgn="base"/>
            <a:r>
              <a:rPr lang="en-IN" dirty="0"/>
              <a:t>This method does not suffer from external fragmentation. This makes it relatively better in terms of memory utilization.</a:t>
            </a:r>
          </a:p>
          <a:p>
            <a:pPr marL="0" indent="0" fontAlgn="base">
              <a:buNone/>
            </a:pPr>
            <a:r>
              <a:rPr lang="en-IN" b="1" dirty="0"/>
              <a:t>Disadvantages:</a:t>
            </a:r>
            <a:endParaRPr lang="en-IN" dirty="0"/>
          </a:p>
          <a:p>
            <a:pPr fontAlgn="base"/>
            <a:r>
              <a:rPr lang="en-IN" dirty="0"/>
              <a:t>Because the file blocks are distributed randomly on the disk, a large number of seeks are needed to access every block individually. This makes linked allocation slower.</a:t>
            </a:r>
          </a:p>
          <a:p>
            <a:pPr fontAlgn="base"/>
            <a:r>
              <a:rPr lang="en-IN" dirty="0"/>
              <a:t>It does not support random or direct access. We can not directly access the blocks of a file. A block k of a file can be accessed by traversing k blocks sequentially (sequential access ) from the starting block of the file via block pointers.</a:t>
            </a:r>
          </a:p>
          <a:p>
            <a:pPr fontAlgn="base"/>
            <a:r>
              <a:rPr lang="en-IN" dirty="0"/>
              <a:t>Pointers required in the linked allocation incur some extra overhead.</a:t>
            </a:r>
          </a:p>
        </p:txBody>
      </p:sp>
    </p:spTree>
    <p:extLst>
      <p:ext uri="{BB962C8B-B14F-4D97-AF65-F5344CB8AC3E}">
        <p14:creationId xmlns:p14="http://schemas.microsoft.com/office/powerpoint/2010/main" val="380823357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3. Indexed Allocation</a:t>
            </a:r>
            <a:endParaRPr lang="en-IN" dirty="0"/>
          </a:p>
        </p:txBody>
      </p:sp>
      <p:sp>
        <p:nvSpPr>
          <p:cNvPr id="3" name="Content Placeholder 2"/>
          <p:cNvSpPr>
            <a:spLocks noGrp="1"/>
          </p:cNvSpPr>
          <p:nvPr>
            <p:ph idx="1"/>
          </p:nvPr>
        </p:nvSpPr>
        <p:spPr/>
        <p:txBody>
          <a:bodyPr>
            <a:normAutofit lnSpcReduction="10000"/>
          </a:bodyPr>
          <a:lstStyle/>
          <a:p>
            <a:pPr fontAlgn="base"/>
            <a:r>
              <a:rPr lang="en-IN" dirty="0"/>
              <a:t>In this scheme, a special block known as the </a:t>
            </a:r>
            <a:r>
              <a:rPr lang="en-IN" b="1" dirty="0"/>
              <a:t>Index block</a:t>
            </a:r>
            <a:r>
              <a:rPr lang="en-IN" dirty="0"/>
              <a:t> contains the pointers to all the blocks occupied by a file. Each file has its own index block. The </a:t>
            </a:r>
            <a:r>
              <a:rPr lang="en-IN" dirty="0" err="1"/>
              <a:t>ith</a:t>
            </a:r>
            <a:r>
              <a:rPr lang="en-IN" dirty="0"/>
              <a:t> entry in the index block contains the disk address of the </a:t>
            </a:r>
            <a:r>
              <a:rPr lang="en-IN" dirty="0" err="1"/>
              <a:t>ith</a:t>
            </a:r>
            <a:r>
              <a:rPr lang="en-IN" dirty="0"/>
              <a:t> file block. The directory entry contains the address of the index block as shown in the image:</a:t>
            </a:r>
          </a:p>
          <a:p>
            <a:pPr marL="0" indent="0">
              <a:buNone/>
            </a:pPr>
            <a:r>
              <a:rPr lang="en-IN" dirty="0"/>
              <a:t/>
            </a:r>
            <a:br>
              <a:rPr lang="en-IN" dirty="0"/>
            </a:br>
            <a:endParaRPr lang="en-IN" dirty="0"/>
          </a:p>
        </p:txBody>
      </p:sp>
    </p:spTree>
    <p:extLst>
      <p:ext uri="{BB962C8B-B14F-4D97-AF65-F5344CB8AC3E}">
        <p14:creationId xmlns:p14="http://schemas.microsoft.com/office/powerpoint/2010/main" val="112920944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95475" y="1805781"/>
            <a:ext cx="535305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75206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pPr marL="0" indent="0" fontAlgn="base">
              <a:buNone/>
            </a:pPr>
            <a:r>
              <a:rPr lang="en-IN" b="1" dirty="0"/>
              <a:t>Advantages:</a:t>
            </a:r>
            <a:endParaRPr lang="en-IN" dirty="0"/>
          </a:p>
          <a:p>
            <a:pPr fontAlgn="base"/>
            <a:r>
              <a:rPr lang="en-IN" dirty="0"/>
              <a:t>This supports direct access to the blocks occupied by the file and therefore provides fast access to the file blocks.</a:t>
            </a:r>
          </a:p>
          <a:p>
            <a:pPr fontAlgn="base"/>
            <a:r>
              <a:rPr lang="en-IN" dirty="0"/>
              <a:t>It overcomes the problem of external fragmentation.</a:t>
            </a:r>
          </a:p>
          <a:p>
            <a:pPr marL="0" indent="0" fontAlgn="base">
              <a:buNone/>
            </a:pPr>
            <a:r>
              <a:rPr lang="en-IN" b="1" dirty="0"/>
              <a:t>Disadvantages:</a:t>
            </a:r>
            <a:endParaRPr lang="en-IN" dirty="0"/>
          </a:p>
          <a:p>
            <a:pPr fontAlgn="base"/>
            <a:r>
              <a:rPr lang="en-IN" dirty="0"/>
              <a:t>The pointer overhead for indexed allocation is greater than linked allocation.</a:t>
            </a:r>
          </a:p>
          <a:p>
            <a:pPr fontAlgn="base"/>
            <a:r>
              <a:rPr lang="en-IN" dirty="0"/>
              <a:t>For very small files, say files that expand only 2-3 blocks, the indexed allocation would keep one entire block (index block) for the pointers which is inefficient in terms of memory utilization. However, in linked allocation we lose the space of only 1 pointer per block.</a:t>
            </a:r>
          </a:p>
        </p:txBody>
      </p:sp>
    </p:spTree>
    <p:extLst>
      <p:ext uri="{BB962C8B-B14F-4D97-AF65-F5344CB8AC3E}">
        <p14:creationId xmlns:p14="http://schemas.microsoft.com/office/powerpoint/2010/main" val="21376512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853</TotalTime>
  <Words>2732</Words>
  <Application>Microsoft Office PowerPoint</Application>
  <PresentationFormat>On-screen Show (4:3)</PresentationFormat>
  <Paragraphs>203</Paragraphs>
  <Slides>85</Slides>
  <Notes>1</Notes>
  <HiddenSlides>0</HiddenSlides>
  <MMClips>0</MMClips>
  <ScaleCrop>false</ScaleCrop>
  <HeadingPairs>
    <vt:vector size="4" baseType="variant">
      <vt:variant>
        <vt:lpstr>Theme</vt:lpstr>
      </vt:variant>
      <vt:variant>
        <vt:i4>1</vt:i4>
      </vt:variant>
      <vt:variant>
        <vt:lpstr>Slide Titles</vt:lpstr>
      </vt:variant>
      <vt:variant>
        <vt:i4>85</vt:i4>
      </vt:variant>
    </vt:vector>
  </HeadingPairs>
  <TitlesOfParts>
    <vt:vector size="86" baseType="lpstr">
      <vt:lpstr>Office Theme</vt:lpstr>
      <vt:lpstr>Unit 5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RAID 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a File ? </vt:lpstr>
      <vt:lpstr>Attributes of the File </vt:lpstr>
      <vt:lpstr>Operations on the File</vt:lpstr>
      <vt:lpstr>PowerPoint Presentation</vt:lpstr>
      <vt:lpstr>File Access Methods </vt:lpstr>
      <vt:lpstr>Sequential Access </vt:lpstr>
      <vt:lpstr>PowerPoint Presentation</vt:lpstr>
      <vt:lpstr>Direct Access </vt:lpstr>
      <vt:lpstr>PowerPoint Presentation</vt:lpstr>
      <vt:lpstr>Indexed Access </vt:lpstr>
      <vt:lpstr>Directory Structure </vt:lpstr>
      <vt:lpstr>PowerPoint Presentation</vt:lpstr>
      <vt:lpstr>PowerPoint Presentation</vt:lpstr>
      <vt:lpstr>Single Level Directory </vt:lpstr>
      <vt:lpstr>PowerPoint Presentation</vt:lpstr>
      <vt:lpstr>Two Level Directory </vt:lpstr>
      <vt:lpstr>PowerPoint Presentation</vt:lpstr>
      <vt:lpstr>Tree Structured Directory </vt:lpstr>
      <vt:lpstr>PowerPoint Presentation</vt:lpstr>
      <vt:lpstr>Permissions on the file and directory </vt:lpstr>
      <vt:lpstr>Acyclic-Graph Structured Directories </vt:lpstr>
      <vt:lpstr>PowerPoint Presentation</vt:lpstr>
      <vt:lpstr>PowerPoint Presentation</vt:lpstr>
      <vt:lpstr>File System Structure </vt:lpstr>
      <vt:lpstr>PowerPoint Presentation</vt:lpstr>
      <vt:lpstr>PowerPoint Presentation</vt:lpstr>
      <vt:lpstr>File Allocation Methods</vt:lpstr>
      <vt:lpstr>1. Contiguous Allocation</vt:lpstr>
      <vt:lpstr>PowerPoint Presentation</vt:lpstr>
      <vt:lpstr>PowerPoint Presentation</vt:lpstr>
      <vt:lpstr>2. Linked List Allocation</vt:lpstr>
      <vt:lpstr>PowerPoint Presentation</vt:lpstr>
      <vt:lpstr>PowerPoint Presentation</vt:lpstr>
      <vt:lpstr>3. Indexed Allocation</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5 </dc:title>
  <dc:creator>Megha Gupta</dc:creator>
  <cp:lastModifiedBy>Megha Gupta</cp:lastModifiedBy>
  <cp:revision>46</cp:revision>
  <dcterms:created xsi:type="dcterms:W3CDTF">2021-07-06T10:19:19Z</dcterms:created>
  <dcterms:modified xsi:type="dcterms:W3CDTF">2021-07-19T08:55:54Z</dcterms:modified>
</cp:coreProperties>
</file>